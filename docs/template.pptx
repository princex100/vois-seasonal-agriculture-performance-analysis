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11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6656" y="3657600"/>
            <a:ext cx="5029200" cy="822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1400">
                <a:solidFill>
                  <a:srgbClr val="1C1C1C"/>
                </a:solidFill>
              </a:defRPr>
            </a:pPr>
            <a:r>
              <a:rPr dirty="0"/>
              <a:t>Student Name: </a:t>
            </a:r>
            <a:r>
              <a:rPr lang="en-US" dirty="0"/>
              <a:t>prince sharma</a:t>
            </a:r>
          </a:p>
          <a:p>
            <a:pPr>
              <a:defRPr sz="1400">
                <a:solidFill>
                  <a:srgbClr val="1C1C1C"/>
                </a:solidFill>
              </a:defRPr>
            </a:pPr>
            <a:r>
              <a:rPr dirty="0"/>
              <a:t>College Name:</a:t>
            </a:r>
            <a:r>
              <a:rPr lang="en-US" dirty="0"/>
              <a:t> JSS Academy Of Technical Education</a:t>
            </a:r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 fontScale="90000"/>
          </a:bodyPr>
          <a:lstStyle/>
          <a:p>
            <a:pPr>
              <a:defRPr sz="2400" b="1">
                <a:solidFill>
                  <a:srgbClr val="E60000"/>
                </a:solidFill>
              </a:defRPr>
            </a:pPr>
            <a:r>
              <a:t>Project Title - 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6656" y="4572000"/>
            <a:ext cx="50292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>
                <a:solidFill>
                  <a:srgbClr val="464B50"/>
                </a:solidFill>
              </a:defRPr>
            </a:pPr>
            <a:r>
              <a:rPr dirty="0"/>
              <a:t>AICTE STU ID: </a:t>
            </a:r>
            <a:r>
              <a:rPr lang="en-US" sz="1300" b="1" dirty="0">
                <a:solidFill>
                  <a:srgbClr val="464B50"/>
                </a:solidFill>
              </a:rPr>
              <a:t>STU6a26ed8a592401780936074</a:t>
            </a:r>
          </a:p>
          <a:p>
            <a:pPr>
              <a:defRPr sz="1300">
                <a:solidFill>
                  <a:srgbClr val="464B50"/>
                </a:solidFill>
              </a:defRPr>
            </a:pPr>
            <a:endParaRPr lang="en-US" sz="1300" b="1" dirty="0">
              <a:solidFill>
                <a:srgbClr val="464B50"/>
              </a:solidFill>
            </a:endParaRPr>
          </a:p>
          <a:p>
            <a:pPr>
              <a:defRPr sz="1300">
                <a:solidFill>
                  <a:srgbClr val="464B50"/>
                </a:solidFill>
              </a:defRPr>
            </a:pPr>
            <a:r>
              <a:rPr dirty="0"/>
              <a:t>Track: Data Visualization &amp; Analytics | Batch 1 (2026-2027)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300">
                <a:solidFill>
                  <a:srgbClr val="1C1C1C"/>
                </a:solidFill>
              </a:defRPr>
            </a:pPr>
            <a:r>
              <a:t>• High Meteorological &amp; Seasonal Vulnerability: Farming outcomes in India are characterized by extreme weather swings across Monsoon (Kharif), Winter (Rabi), and Summer (Zaid).</a:t>
            </a:r>
          </a:p>
          <a:p>
            <a:pPr>
              <a:spcBef>
                <a:spcPts val="800"/>
              </a:spcBef>
              <a:defRPr sz="1300">
                <a:solidFill>
                  <a:srgbClr val="1C1C1C"/>
                </a:solidFill>
              </a:defRPr>
            </a:pPr>
            <a:r>
              <a:t>• Over-Reliance on Monsoon Precipitation: Lack of predictive moisture and climate telemetry leaves smallholders vulnerable to sudden droughts and intense humidity-driven pest surges (54.5% risk in Kharif).</a:t>
            </a:r>
          </a:p>
          <a:p>
            <a:pPr>
              <a:spcBef>
                <a:spcPts val="800"/>
              </a:spcBef>
              <a:defRPr sz="1300">
                <a:solidFill>
                  <a:srgbClr val="1C1C1C"/>
                </a:solidFill>
              </a:defRPr>
            </a:pPr>
            <a:r>
              <a:t>• Resource Mismatch &amp; Economic Deficits: High energy, labor, and water pumping costs in summer cycles (Zaid) outpace realized crop revenues, resulting in an average seasonal deficit of -₹24,452 per farm.</a:t>
            </a:r>
          </a:p>
          <a:p>
            <a:pPr>
              <a:spcBef>
                <a:spcPts val="800"/>
              </a:spcBef>
              <a:defRPr sz="1300">
                <a:solidFill>
                  <a:srgbClr val="1C1C1C"/>
                </a:solidFill>
              </a:defRPr>
            </a:pPr>
            <a:r>
              <a:t>• Lack of Empirical Decision Support: Absence of localized crop-season affinity modeling and micro-irrigation guidance leads to sub-optimal crop selection and resource squandering.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E60000"/>
                </a:solidFill>
              </a:defRPr>
            </a:pPr>
            <a:r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61474"/>
            <a:ext cx="6276109" cy="830997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E60000"/>
                </a:solidFill>
              </a:defRPr>
            </a:pPr>
            <a:r>
              <a:rPr dirty="0"/>
              <a:t>Project Description: Empirical Agronomic Analytics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5957" y="2616467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1C1C1C"/>
                </a:solidFill>
              </a:defRPr>
            </a:pPr>
            <a:r>
              <a:rPr dirty="0"/>
              <a:t>• Comprehensive Dataset Analysis: In-depth examination of 4,000 agricultural farm samples across 8 major Indian agrarian states (Andhra Pradesh, Gujarat, Karnataka, Madhya Pradesh, Maharashtra, Punjab, Tamil Nadu, Telangana).</a:t>
            </a:r>
          </a:p>
          <a:p>
            <a:pPr>
              <a:spcBef>
                <a:spcPts val="1000"/>
              </a:spcBef>
              <a:defRPr sz="1300">
                <a:solidFill>
                  <a:srgbClr val="1C1C1C"/>
                </a:solidFill>
              </a:defRPr>
            </a:pPr>
            <a:r>
              <a:rPr dirty="0"/>
              <a:t>• Multi-Dimensional Feature Set: Evaluates 28 variables spanning environmental conditions (Rainfall, Temperature, Humidity, Sunlight), soil parameters (N-P-K, pH, Moisture), agrochemicals (Fertilizers, Pesticides), and farm economics.</a:t>
            </a:r>
          </a:p>
          <a:p>
            <a:pPr>
              <a:spcBef>
                <a:spcPts val="1000"/>
              </a:spcBef>
              <a:defRPr sz="1300">
                <a:solidFill>
                  <a:srgbClr val="1C1C1C"/>
                </a:solidFill>
              </a:defRPr>
            </a:pPr>
            <a:r>
              <a:rPr dirty="0"/>
              <a:t>• Data Pipeline &amp; Imputation: Implemented stratified group-median imputation based on Season and Crop to address missing values in Rainfall, Soil Moisture, and Yield without distorting seasonal variance.</a:t>
            </a:r>
          </a:p>
          <a:p>
            <a:pPr>
              <a:spcBef>
                <a:spcPts val="1000"/>
              </a:spcBef>
              <a:defRPr sz="1300">
                <a:solidFill>
                  <a:srgbClr val="1C1C1C"/>
                </a:solidFill>
              </a:defRPr>
            </a:pPr>
            <a:r>
              <a:rPr dirty="0"/>
              <a:t>• Inferential &amp; Statistical Testing: Executed One-Way ANOVA and Kruskal-Wallis hypothesis tests confirming statistically significant differences in seasonal profitability (F = 34.40, p = 1.54 × 10⁻¹⁵) and crop productivity.</a:t>
            </a:r>
          </a:p>
          <a:p>
            <a:pPr>
              <a:spcBef>
                <a:spcPts val="1000"/>
              </a:spcBef>
              <a:defRPr sz="1300">
                <a:solidFill>
                  <a:srgbClr val="1C1C1C"/>
                </a:solidFill>
              </a:defRPr>
            </a:pPr>
            <a:r>
              <a:rPr dirty="0"/>
              <a:t>• Strategic </a:t>
            </a:r>
            <a:r>
              <a:rPr dirty="0" err="1"/>
              <a:t>Agritech</a:t>
            </a:r>
            <a:r>
              <a:rPr dirty="0"/>
              <a:t> Framework: Generates actionable crop-season affinity matrices, irrigation efficiency rankings, and risk-adjusted farmer advisories.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E60000"/>
                </a:solidFill>
              </a:defRPr>
            </a:pPr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60000"/>
                </a:solidFill>
              </a:defRPr>
            </a:pPr>
            <a:r>
              <a:t>👨‍🌾 Smallholder Farmers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Select optimal high-margin crop-season combinations.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Adopt Drip irrigation to double net profit (₹25,544/Ha vs ₹9,005/Ha).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Time pesticide sprays with humidity alerts to prevent crop failure.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C1C1C"/>
                </a:solidFill>
              </a:defRPr>
            </a:pPr>
            <a:r>
              <a:t>🏦 Agri-Fintech &amp; Insurers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Underwrite parametric weather insurance tied to rainfall thresholds.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Assess creditworthiness using empirical profit-per-hectare metrics.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Reduce loan default rates through automated seasonal risk scoring.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B8B"/>
                </a:solidFill>
              </a:defRPr>
            </a:pPr>
            <a:r>
              <a:t>🚚 Supply Chain &amp; FMCG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Forecast harvest tonnage across Kharif and Rabi with high fidelity.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Optimize warehousing capacity before seasonal harvest arrivals.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Secure direct farmer contracting for high-value crops (Chilli, Sugarcane).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319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69500"/>
                </a:solidFill>
              </a:defRPr>
            </a:pPr>
            <a:r>
              <a:t>🏛️ Extension Officers &amp; Policy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Direct government subsidies towards high-efficiency micro-irrigation.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Deploy Integrated Pest Management (IPM) in high-risk Kharif zones.</a:t>
            </a:r>
          </a:p>
          <a:p>
            <a:pPr>
              <a:spcBef>
                <a:spcPts val="200"/>
              </a:spcBef>
              <a:defRPr sz="1050">
                <a:solidFill>
                  <a:srgbClr val="1C1C1C"/>
                </a:solidFill>
              </a:defRPr>
            </a:pPr>
            <a:r>
              <a:t>• Formulate soil health interventions based on N-P-K deficiency maps.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1000061"/>
            <a:ext cx="5306291" cy="847817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E60000"/>
                </a:solidFill>
              </a:defRPr>
            </a:pPr>
            <a:r>
              <a:rPr lang="en-US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450" y="2267809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C1C1C"/>
                </a:solidFill>
              </a:defRPr>
            </a:pPr>
            <a:r>
              <a:rPr dirty="0"/>
              <a:t>• Python 3.10+ Analytics Engine: Core programming environment for high-performance data wrangling, automation, and mathematical modeling.</a:t>
            </a:r>
          </a:p>
          <a:p>
            <a:pPr>
              <a:spcBef>
                <a:spcPts val="800"/>
              </a:spcBef>
              <a:defRPr sz="1200">
                <a:solidFill>
                  <a:srgbClr val="1C1C1C"/>
                </a:solidFill>
              </a:defRPr>
            </a:pPr>
            <a:r>
              <a:rPr dirty="0"/>
              <a:t>• Pandas &amp; NumPy: Vectorized operations, data aggregation, stratified median imputation, and derived KPI feature engineering.</a:t>
            </a:r>
          </a:p>
          <a:p>
            <a:pPr>
              <a:spcBef>
                <a:spcPts val="800"/>
              </a:spcBef>
              <a:defRPr sz="1200">
                <a:solidFill>
                  <a:srgbClr val="1C1C1C"/>
                </a:solidFill>
              </a:defRPr>
            </a:pPr>
            <a:r>
              <a:rPr dirty="0"/>
              <a:t>• </a:t>
            </a:r>
            <a:r>
              <a:rPr dirty="0" err="1"/>
              <a:t>Scipy.stats</a:t>
            </a:r>
            <a:r>
              <a:rPr dirty="0"/>
              <a:t> &amp; </a:t>
            </a:r>
            <a:r>
              <a:rPr dirty="0" err="1"/>
              <a:t>Statsmodels</a:t>
            </a:r>
            <a:r>
              <a:rPr dirty="0"/>
              <a:t>: Rigorous statistical hypothesis testing including One-Way ANOVA ($F$-test), Kruskal-Wallis non-parametric tests, and linear OLS regression.</a:t>
            </a:r>
          </a:p>
          <a:p>
            <a:pPr>
              <a:spcBef>
                <a:spcPts val="800"/>
              </a:spcBef>
              <a:defRPr sz="1200">
                <a:solidFill>
                  <a:srgbClr val="1C1C1C"/>
                </a:solidFill>
              </a:defRPr>
            </a:pPr>
            <a:r>
              <a:rPr dirty="0"/>
              <a:t>• Matplotlib &amp; Seaborn: Publication-quality 1200 DPI visualizations (dual-axis charts, heatmaps, regression subplots, and grouped financial bar charts).</a:t>
            </a:r>
          </a:p>
          <a:p>
            <a:pPr>
              <a:spcBef>
                <a:spcPts val="800"/>
              </a:spcBef>
              <a:defRPr sz="1200">
                <a:solidFill>
                  <a:srgbClr val="1C1C1C"/>
                </a:solidFill>
              </a:defRPr>
            </a:pPr>
            <a:r>
              <a:rPr dirty="0"/>
              <a:t>• Google </a:t>
            </a:r>
            <a:r>
              <a:rPr dirty="0" err="1"/>
              <a:t>Colab</a:t>
            </a:r>
            <a:r>
              <a:rPr dirty="0"/>
              <a:t> &amp; Jupyter Notebook: Cloud-native interactive execution with automated repository cloning, environment detection, and 1-click execution.</a:t>
            </a:r>
          </a:p>
          <a:p>
            <a:pPr>
              <a:spcBef>
                <a:spcPts val="800"/>
              </a:spcBef>
              <a:defRPr sz="1200">
                <a:solidFill>
                  <a:srgbClr val="1C1C1C"/>
                </a:solidFill>
              </a:defRPr>
            </a:pPr>
            <a:r>
              <a:rPr dirty="0"/>
              <a:t>• python-pptx &amp; Git/GitHub: Programmatic generation of executive submission presentation deck and Git version control repository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pPr>
              <a:defRPr sz="2000" b="1">
                <a:solidFill>
                  <a:srgbClr val="E60000"/>
                </a:solidFill>
              </a:defRPr>
            </a:pPr>
            <a:r>
              <a:t>RESULTS: Seasonal Agronomic Dynamics (Yield vs. Rainfall)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32320" y="1371600"/>
            <a:ext cx="43278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1. Monsoon-Driven Crop Yields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Kharif yields peak at 5.63 Tonnes/Ha driven by heavy monsoon rainfall (mean 852.1 mm), compared to 5.09 t/Ha in Rabi and 4.64 t/Ha in Zaid.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2. Precipitation Gradient Across Cycles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Rainfall drops steeply by 48.8% in Rabi (435.9 mm) and 64.9% in Zaid (299.2 mm), necessitating supplementary artificial irrigation.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3. Statistically Significant Variation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Kruskal-Wallis testing confirms highly significant seasonal differences in crop yield distributions (H = 70.26, p = 5.52 × 10⁻¹⁶).</a:t>
            </a:r>
          </a:p>
        </p:txBody>
      </p:sp>
      <p:pic>
        <p:nvPicPr>
          <p:cNvPr id="33" name="Picture 32" descr="voi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621792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pPr>
              <a:defRPr sz="2000" b="1">
                <a:solidFill>
                  <a:srgbClr val="E60000"/>
                </a:solidFill>
              </a:defRPr>
            </a:pPr>
            <a:r>
              <a:t>RESULTS: Irrigation Method Efficiency vs. Net Profitability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32320" y="1371600"/>
            <a:ext cx="43278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1. Drip Irrigation Financial Premium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Drip irrigation achieves the highest average net profit of ₹25,544/Ha (₹218,659/farm), nearly triple that of traditional flood methods.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2. High Water Productivity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Drip delivers 6.26 t/1,000 m³ water efficiency, ensuring maximum biological crop output per unit volume of water consumed.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3. Flood Irrigation Inefficiency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Flood irrigation proves lowest in profitability (₹9,005/Ha) and water efficiency (3.44 t/1,000 m³), squandering massive ground table reserves.</a:t>
            </a:r>
          </a:p>
        </p:txBody>
      </p:sp>
      <p:pic>
        <p:nvPicPr>
          <p:cNvPr id="33" name="Picture 32" descr="voi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621792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pPr>
              <a:defRPr sz="2000" b="1">
                <a:solidFill>
                  <a:srgbClr val="E60000"/>
                </a:solidFill>
              </a:defRPr>
            </a:pPr>
            <a:r>
              <a:t>RESULTS: Seasonal Macroeconomic Breakdown (Cost, Revenue, Profit)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32320" y="1371600"/>
            <a:ext cx="43278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1. Kharif High-Profit Regime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Kharif generates ₹711k in revenue against ₹532k in cost, producing the highest seasonal profit margin of ₹179k per farm (₹21,973/Ha).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2. Rabi Economic Stability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Rabi produces ₹602k revenue and ₹514k cost, delivering stable positive net earnings of ₹88k per farm (₹10,429/Ha).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3. Zaid Financial Inversion Deficit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Zaid farms suffer an average net deficit of -₹24k (-₹2,519/Ha) as high summer pumping/labor costs (₹544k) outpace realized revenues (₹520k). ANOVA F = 34.40, p = 1.54 × 10⁻¹⁵.</a:t>
            </a:r>
          </a:p>
        </p:txBody>
      </p:sp>
      <p:pic>
        <p:nvPicPr>
          <p:cNvPr id="33" name="Picture 32" descr="voi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621792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pPr>
              <a:defRPr sz="2000" b="1">
                <a:solidFill>
                  <a:srgbClr val="E60000"/>
                </a:solidFill>
              </a:defRPr>
            </a:pPr>
            <a:r>
              <a:t>RESULTS: Agrochemical Application vs. Pest/Disease Vulnerability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32320" y="1371600"/>
            <a:ext cx="43278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1. Environmental Climatological Driver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Pest vulnerability surges to 54.47% in Kharif vs. 40.48% in Rabi and 38.22% in Zaid, driven by monsoon atmospheric humidity &gt; 75%.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2. Weak Chemical Dosage Correlation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Pesticide dosage (r = 0.015, p = 0.35) and fertilizer dosage (r = 0.033, p = 0.038) demonstrate negligible linear correlation with pest risk reduction.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3. Integrated Pest Management (IPM) Need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Uncalibrated chemical over-application fails to mitigate risk; preventive telemetry and biological pest controls are essential.</a:t>
            </a:r>
          </a:p>
        </p:txBody>
      </p:sp>
      <p:pic>
        <p:nvPicPr>
          <p:cNvPr id="33" name="Picture 32" descr="vois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621792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pPr>
              <a:defRPr sz="2000" b="1">
                <a:solidFill>
                  <a:srgbClr val="E60000"/>
                </a:solidFill>
              </a:defRPr>
            </a:pPr>
            <a:r>
              <a:t>RESULTS: Seasonal Crop Performance Matrix (Profit &amp; Productivity)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32320" y="1371600"/>
            <a:ext cx="43278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60000"/>
                </a:solidFill>
              </a:defRPr>
            </a:pPr>
            <a:r>
              <a:t>📊 Key Analytical Insights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1. High-Margin Cash Crops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Sugarcane and Chilli generate superior profitability (₹60,000 - ₹150,000/Ha) and tonnage (Sugarcane: 40 - 75 t/Ha) across Kharif and Rabi.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2. Food Security Staples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Rice (2.5 - 4.5 t/Ha) and Wheat (2.0 - 4.0 t/Ha) deliver steady staple productivity with low volatility across Kharif and Rabi.</a:t>
            </a:r>
          </a:p>
          <a:p>
            <a:pPr>
              <a:spcBef>
                <a:spcPts val="1000"/>
              </a:spcBef>
              <a:defRPr sz="1150" b="1">
                <a:solidFill>
                  <a:srgbClr val="1C1C1C"/>
                </a:solidFill>
              </a:defRPr>
            </a:pPr>
            <a:r>
              <a:t>3. Zaid Crop Selection Guidelines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Summer farming should prioritize drought-tolerant pulses and short-duration oilseeds (Groundnut) supported by drip systems.</a:t>
            </a:r>
          </a:p>
        </p:txBody>
      </p:sp>
      <p:pic>
        <p:nvPicPr>
          <p:cNvPr id="33" name="Picture 32" descr="vois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621792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E60000"/>
                </a:solidFill>
              </a:defRPr>
            </a:pPr>
            <a:r>
              <a:t>Future Scope &amp; Agritech Roadmap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Rounded Rectangle 2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60000"/>
                </a:solidFill>
              </a:defRPr>
            </a:pPr>
            <a:r>
              <a:t>🤖 Machine Learning Yield Prediction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Deploy XGBoost, LightGBM, and Random Forest ensemble regressors to predict micro-climate farm yields with R² &gt; 0.90.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C1C1C"/>
                </a:solidFill>
              </a:defRPr>
            </a:pPr>
            <a:r>
              <a:t>📡 Real-Time IoT Soil Sensor Integration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Ingest telemetry from ground-level N-P-K, pH, and capacitive soil moisture probes for automated variable-rate drip fertigation.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8B8B"/>
                </a:solidFill>
              </a:defRPr>
            </a:pPr>
            <a:r>
              <a:t>🌦️ Micro-Climate Crop Advisory Systems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AI-driven hyper-local mobile advisory delivering real-time pest alerts and market price intelligence directly to smallholders.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69500"/>
                </a:solidFill>
              </a:defRPr>
            </a:pPr>
            <a:r>
              <a:t>🛰️ Satellite Remote Sensing (NDVI/EVI)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Incorporate Sentinel-2 and Landsat optical/SAR imagery to monitor crop canopy health and stress index in real-time.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E60000"/>
                </a:solidFill>
              </a:defRPr>
            </a:pPr>
            <a:r>
              <a:t>Project Links: GitHub Repository &amp; Google Colab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Rounded Rectangle 23"/>
          <p:cNvSpPr/>
          <p:nvPr/>
        </p:nvSpPr>
        <p:spPr>
          <a:xfrm>
            <a:off x="653146" y="1808480"/>
            <a:ext cx="5257800" cy="2011680"/>
          </a:xfrm>
          <a:prstGeom prst="roundRect">
            <a:avLst/>
          </a:prstGeom>
          <a:solidFill>
            <a:srgbClr val="1C1C1C"/>
          </a:solidFill>
          <a:ln w="1905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60000"/>
                </a:solidFill>
              </a:defRPr>
            </a:pPr>
            <a:r>
              <a:rPr dirty="0"/>
              <a:t>🐙 OFFICIAL GITHUB REPOSITORY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</a:defRPr>
            </a:pPr>
            <a:r>
              <a:rPr dirty="0"/>
              <a:t>https://github.com/princex100/VOIS-Seasonal-Agriculture-Performance-Analysis</a:t>
            </a:r>
          </a:p>
          <a:p>
            <a:pPr>
              <a:spcBef>
                <a:spcPts val="400"/>
              </a:spcBef>
              <a:defRPr sz="1000">
                <a:solidFill>
                  <a:srgbClr val="C8CDD2"/>
                </a:solidFill>
              </a:defRPr>
            </a:pPr>
            <a:r>
              <a:rPr dirty="0"/>
              <a:t>• Complete production codebase, datasets, and presentation deck.</a:t>
            </a:r>
            <a:br>
              <a:rPr dirty="0"/>
            </a:br>
            <a:r>
              <a:rPr dirty="0"/>
              <a:t>• Full Git commit history &amp; structured directory hierarchy.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1808480"/>
            <a:ext cx="5257800" cy="2011680"/>
          </a:xfrm>
          <a:prstGeom prst="roundRect">
            <a:avLst/>
          </a:prstGeom>
          <a:solidFill>
            <a:srgbClr val="1C1C1C"/>
          </a:solidFill>
          <a:ln w="190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69500"/>
                </a:solidFill>
              </a:defRPr>
            </a:pPr>
            <a:r>
              <a:rPr dirty="0"/>
              <a:t>⚡ GOOGLE COLAB INTERACTIVE NOTEBOOK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https://colab.research.google.com/github/princex100/VOIS-Seasonal-Agriculture-Performance-Analysis/blob/main/notebooks/Seasonal_Agriculture_Performance_Analysis.ipynb</a:t>
            </a:r>
          </a:p>
          <a:p>
            <a:pPr>
              <a:spcBef>
                <a:spcPts val="400"/>
              </a:spcBef>
              <a:defRPr sz="1000">
                <a:solidFill>
                  <a:srgbClr val="C8CDD2"/>
                </a:solidFill>
              </a:defRPr>
            </a:pPr>
            <a:r>
              <a:rPr dirty="0"/>
              <a:t>• 1-Click Cloud Execution: Run end-to-end EDA and statistical ANOVA directly in your browser.</a:t>
            </a:r>
            <a:br>
              <a:rPr dirty="0"/>
            </a:br>
            <a:r>
              <a:rPr dirty="0"/>
              <a:t>• Zero setup required: Auto-fetches dataset and renders interactive charts.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146" y="3916680"/>
            <a:ext cx="10728655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C1C1C"/>
                </a:solidFill>
              </a:defRPr>
            </a:pPr>
            <a:r>
              <a:t>📁 Structured Deliverables Directory Index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•  data/           : Contains raw CSV (4,000 records) and cleaned dataset with stratified median imputation.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•  notebooks/      : Seasonal_Agriculture_Performance_Analysis.ipynb - Google Colab compatible research notebook.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•  src/            : analyze_and_visualize.py (Data &amp; EDA pipeline), update_presentation.py (Deck builder).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•  results/        : 5 High-resolution publication charts (.png) and statistical_summary.json metrics.</a:t>
            </a:r>
          </a:p>
          <a:p>
            <a:pPr>
              <a:spcBef>
                <a:spcPts val="200"/>
              </a:spcBef>
              <a:defRPr sz="1000">
                <a:solidFill>
                  <a:srgbClr val="464B50"/>
                </a:solidFill>
              </a:defRPr>
            </a:pPr>
            <a:r>
              <a:t>•  docs/           : VOIS_Major_Project_Final_Submission.pptx - Official 14-slide submission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E60000"/>
                </a:solidFill>
              </a:defRPr>
            </a:pPr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Rounded Rectangle 23"/>
          <p:cNvSpPr/>
          <p:nvPr/>
        </p:nvSpPr>
        <p:spPr>
          <a:xfrm>
            <a:off x="1645920" y="1463040"/>
            <a:ext cx="8899855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E60000"/>
                </a:solidFill>
              </a:defRPr>
            </a:pPr>
            <a:r>
              <a:t>[Insert VOIS Data Visualization Certificate Here]</a:t>
            </a:r>
          </a:p>
          <a:p>
            <a:pPr algn="ctr">
              <a:spcBef>
                <a:spcPts val="1000"/>
              </a:spcBef>
              <a:defRPr sz="1200">
                <a:solidFill>
                  <a:srgbClr val="464B50"/>
                </a:solidFill>
              </a:defRPr>
            </a:pPr>
            <a:r>
              <a:t>Paste your official Vodafone Intelligent Solutions (_VOIS) Data Visualization course certificate image here prior to final portal submission.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>
              <a:defRPr b="1">
                <a:solidFill>
                  <a:srgbClr val="E60000"/>
                </a:solidFill>
              </a:defRPr>
            </a:pPr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71600" y="2011680"/>
            <a:ext cx="9448495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1C1C"/>
                </a:solidFill>
              </a:defRPr>
            </a:pPr>
            <a:r>
              <a:rPr dirty="0"/>
              <a:t>VOIS AICTE INTERNSHIP (BATCH 1 2026-2027) - MAJOR PROJECT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E60000"/>
                </a:solidFill>
              </a:defRPr>
            </a:pPr>
            <a:r>
              <a:rPr dirty="0"/>
              <a:t>Seasonal Agriculture Performance Analysis</a:t>
            </a:r>
          </a:p>
          <a:p>
            <a:pPr algn="ctr">
              <a:spcBef>
                <a:spcPts val="2500"/>
              </a:spcBef>
              <a:defRPr sz="1300">
                <a:solidFill>
                  <a:srgbClr val="464B50"/>
                </a:solidFill>
              </a:defRPr>
            </a:pPr>
            <a:r>
              <a:rPr dirty="0"/>
              <a:t>Student Credentials &amp; Contact Information:</a:t>
            </a:r>
            <a:br>
              <a:rPr dirty="0"/>
            </a:br>
            <a:r>
              <a:rPr dirty="0"/>
              <a:t>Student: </a:t>
            </a:r>
            <a:r>
              <a:rPr lang="en-US" dirty="0"/>
              <a:t>Prince Sharma</a:t>
            </a:r>
            <a:r>
              <a:rPr dirty="0"/>
              <a:t>|  AICTE Student ID: </a:t>
            </a:r>
            <a:r>
              <a:rPr lang="en-US" sz="1300" b="1" dirty="0">
                <a:solidFill>
                  <a:srgbClr val="464B50"/>
                </a:solidFill>
              </a:rPr>
              <a:t>STU6a26ed8a592401780936074</a:t>
            </a:r>
          </a:p>
          <a:p>
            <a:pPr algn="ctr">
              <a:spcBef>
                <a:spcPts val="2500"/>
              </a:spcBef>
              <a:defRPr sz="1300">
                <a:solidFill>
                  <a:srgbClr val="464B50"/>
                </a:solidFill>
              </a:defRPr>
            </a:pPr>
            <a:r>
              <a:rPr dirty="0"/>
              <a:t>College: </a:t>
            </a:r>
            <a:r>
              <a:rPr lang="en-US" dirty="0"/>
              <a:t>JSS Academy of Technical </a:t>
            </a:r>
            <a:r>
              <a:rPr lang="en-US" dirty="0" err="1"/>
              <a:t>Education,noida</a:t>
            </a:r>
            <a:r>
              <a:rPr dirty="0"/>
              <a:t>|  Email: </a:t>
            </a:r>
            <a:r>
              <a:rPr lang="en-US" dirty="0"/>
              <a:t>princeshrm002@gmail.com</a:t>
            </a:r>
            <a:r>
              <a:rPr dirty="0"/>
              <a:t>|  LinkedIn: </a:t>
            </a:r>
            <a:r>
              <a:rPr lang="en-US" dirty="0"/>
              <a:t>https://www.linkedin.com/in/prince-sharma100/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783</TotalTime>
  <Words>1644</Words>
  <Application>Microsoft Office PowerPoint</Application>
  <PresentationFormat>Widescreen</PresentationFormat>
  <Paragraphs>114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STATEMENT</vt:lpstr>
      <vt:lpstr>Project Description: Empirical Agronomic Analytics</vt:lpstr>
      <vt:lpstr>WHO ARE THE END USERS?</vt:lpstr>
      <vt:lpstr>Technology Used</vt:lpstr>
      <vt:lpstr>RESULTS: Seasonal Agronomic Dynamics (Yield vs. Rainfall)</vt:lpstr>
      <vt:lpstr>RESULTS: Irrigation Method Efficiency vs. Net Profitability</vt:lpstr>
      <vt:lpstr>RESULTS: Seasonal Macroeconomic Breakdown (Cost, Revenue, Profit)</vt:lpstr>
      <vt:lpstr>RESULTS: Agrochemical Application vs. Pest/Disease Vulnerability</vt:lpstr>
      <vt:lpstr>RESULTS: Seasonal Crop Performance Matrix (Profit &amp; Productivity)</vt:lpstr>
      <vt:lpstr>Future Scope &amp; Agritech Roadmap</vt:lpstr>
      <vt:lpstr>Project Links: GitHub Repository &amp; Google Colab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prince sharma</cp:lastModifiedBy>
  <cp:revision>98</cp:revision>
  <dcterms:created xsi:type="dcterms:W3CDTF">2021-07-11T13:13:15Z</dcterms:created>
  <dcterms:modified xsi:type="dcterms:W3CDTF">2026-09-09T21:27:55Z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