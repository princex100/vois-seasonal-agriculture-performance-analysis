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0000"/>
                </a:solidFill>
                <a:latin typeface="Arial"/>
              </a:defRPr>
            </a:pPr>
            <a:r>
              <a:t>VOIS AICTE INTERNSHIP (BATCH 1: 2026-2027) | MAJOR PROJECT</a:t>
            </a:r>
          </a:p>
          <a:p>
            <a:pPr>
              <a:spcBef>
                <a:spcPts val="10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Seasonal Agriculture Performance Analysis</a:t>
            </a:r>
          </a:p>
          <a:p>
            <a:pPr>
              <a:spcBef>
                <a:spcPts val="800"/>
              </a:spcBef>
              <a:defRPr sz="1600">
                <a:solidFill>
                  <a:srgbClr val="C8CDD2"/>
                </a:solidFill>
                <a:latin typeface="Arial"/>
              </a:defRPr>
            </a:pPr>
            <a:r>
              <a:t>Empirical Data Analytics, Environmental Risk Modeling &amp; Agritech Strategic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657600"/>
            <a:ext cx="9875520" cy="2011680"/>
          </a:xfrm>
          <a:prstGeom prst="roundRect">
            <a:avLst/>
          </a:prstGeom>
          <a:solidFill>
            <a:srgbClr val="262A2E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0000"/>
                </a:solidFill>
                <a:latin typeface="Arial"/>
              </a:defRPr>
            </a:pPr>
            <a:r>
              <a:t>PROJECT SUBMISSION CREDENTIALS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Student Name: [Student Name]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College Name: [College Name]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AICTE Student ID: [AICTE STU ID]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Internship Track: Data Visualization &amp; Analytics | Vodafone Intelligent Solutions (_VOIS)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Academic Batch: Batch 1 (2026-2027)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Problem Statement: Challenges in Indian Seasonal Agriculture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60000"/>
                </a:solidFill>
              </a:defRPr>
            </a:pPr>
            <a:r>
              <a:t>🚨 Core Problem &amp; Seasonal Vulnerabilities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Unpredictable Seasonal Transitions: Extreme meteorological variations between Monsoon (Kharif), Winter (Rabi), and Summer (Zaid) create volatile yields.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Monsoon Over-Reliance: Over 60% of smallholders lack dynamic adaptive planning, exposing crops to sudden moisture deficits or severe humidity-induced pest surges.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Economic Margin Erosion: High input costs (power, water pumping, fertilizers) in summer cycles (Zaid) frequently exceed harvest market revenues.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C1C1C"/>
                </a:solidFill>
              </a:defRPr>
            </a:pPr>
            <a:r>
              <a:t>💡 Research Scope &amp; Empirical Objectives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Eliminate Empirical Intuition: Replace traditional unquantified farming decisions with rigorous statistical and financial modeling.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Resource Mismatch Rectification: Quantify irrigation inefficiencies (Flood vs. Drip) to prevent groundwater squandering and input over-application.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Evidence-Based Agritech Planning: Deliver clear crop-season affinity matrices and actionable decision thresholds for policy makers and farming communities.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Project Description &amp; Dataset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4,000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Farm Samples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C1C"/>
                </a:solidFill>
              </a:defRPr>
            </a:pPr>
            <a:r>
              <a:t>8 States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Pan-India Agricultural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8B8B"/>
                </a:solidFill>
              </a:defRPr>
            </a:pPr>
            <a:r>
              <a:t>3 Seasons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Kharif, Rabi, and Zaid Cycles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9500"/>
                </a:solidFill>
              </a:defRPr>
            </a:pPr>
            <a:r>
              <a:t>28 Features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Environmental, Soil &amp; Economics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10728655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C1C1C"/>
                </a:solidFill>
              </a:defRPr>
            </a:pPr>
            <a:r>
              <a:t>Comprehensive Agronomic &amp; Economic Analytical Dimensions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Geographic &amp; Soil Diversity: Granular observations across Andhra Pradesh, Gujarat, Karnataka, Madhya Pradesh, Maharashtra, Punjab, Tamil Nadu, and Telangana covering pH (5.2 - 8.4), Soil Moisture, and N-P-K nutrient profiles.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Meteorological &amp; Irrigation Inputs: Systematic telemetry including Seasonal Rainfall (mm), Temperature (°C), Humidity (%), Sunlight Hours, and Water Volumes across 4 irrigation modes (Drip, Sprinkler, Rainfed, Flood).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Financial &amp; Productivity Metrics: Full micro-economic auditing computing Production (Tonnes), Cost (₹), Revenue (₹), Net Profit (₹), Profit/Ha, and Water Productivity ($t/1,000 m^3$).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Risk Profiling: Quantitative assessment of chemical load (Pesticides, Fertilizers, Seed Quality) against Disease and Pest Vulnerability risk percentages.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Target End Users &amp; Stakeholder Value Proposition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👨‍🌾 Smallholder Farmers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OPERATIONAL DECISIONS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Select optimal crop-season combinations to maximize net margins.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Adopt Drip/Sprinkler methods to cut water waste and double ROI.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Prevent pest outbreaks by timing chemical sprays with humidity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C1C1C"/>
                </a:solidFill>
              </a:defRPr>
            </a:pPr>
            <a:r>
              <a:t>🏦 Agri-Fintech &amp; Insurers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RISK &amp; CREDIT UNDERWRITING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Structure parametric insurance based on seasonal rainfall thresholds.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Assess farmer creditworthiness using empirical profit-per-hectare data.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Reduce loan default rates through automated seasonal risk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8B8B"/>
                </a:solidFill>
              </a:defRPr>
            </a:pPr>
            <a:r>
              <a:t>🚚 Supply Chain &amp; FMCG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PROCUREMENT &amp; INVENTORY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Forecast harvest volume across Kharif and Rabi with high fidelity.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Optimize warehousing capacity before seasonal harvest arrivals.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Minimize supply shocks for agro-processing commodities (Sugarcane, Chilli).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4048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9500"/>
                </a:solidFill>
              </a:defRPr>
            </a:pPr>
            <a:r>
              <a:t>🏛️ Extension Officers &amp; Policy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AGRITECH POLICY IMPLEMENTATION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Direct government subsidies towards high-efficiency micro-irrigation.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Target IPM (Integrated Pest Management) campaigns in high-risk Kharif zones.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Deploy regional soil health interventions based on N-P-K deficiency maps.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Technology Stack &amp; Analytical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⚙️ Python 3.10+ &amp; Data Engine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Pandas: High-performance data manipulation &amp; aggregation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NumPy: Numerical vectorization &amp; matrix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⚙️ Statistical &amp; Inferential Modeling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Scipy.stats: ANOVA ($F$-statistic) and Kruskal-Wallis ($H$-test)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Statsmodels: Linear OLS regression and trend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⚙️ Publication Visualization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Matplotlib: High-resolution dual-axis and grouped layouts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Seaborn: Heatmap matrices and statistical regression plotting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⚙️ Automation &amp; Deliverables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python-pptx: Programmatic corporate deck generation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nbformat &amp; Jupyter: Documented reproducible research notebook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Git &amp; GitHub: Version control &amp; public repository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1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1: Seasonal Agronomic Dynamics (Yield vs. Rainfall)</a:t>
            </a:r>
          </a:p>
        </p:txBody>
      </p:sp>
      <p:pic>
        <p:nvPicPr>
          <p:cNvPr id="6" name="Picture 5" descr="01_seasonal_yield_rain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Monsoon-Driven Crop Yields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Kharif yields peak at 5.63 Tonnes/Ha driven by heavy monsoon rainfall (mean 852.1 mm), compared to 5.09 t/Ha in Rabi and 4.64 t/Ha in Zaid.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Precipitation Gradient Across Cycles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Rainfall drops steeply by 48.8% in Rabi (435.9 mm) and 64.9% in Zaid (299.2 mm), necessitating supplementary artificial irrigation.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Statistically Significant Variation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Kruskal-Wallis testing confirms highly significant seasonal differences in crop yield distributions (H = 70.26, p = 5.52 × 10⁻¹⁶).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2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2: Irrigation Method Efficiency vs. Net Profitability</a:t>
            </a:r>
          </a:p>
        </p:txBody>
      </p:sp>
      <p:pic>
        <p:nvPicPr>
          <p:cNvPr id="6" name="Picture 5" descr="02_irrigation_profit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Drip Irrigation Financial Premium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Drip irrigation achieves the highest average net profit of ₹25,544/Ha (₹218,659/farm), nearly triple that of traditional flood methods.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High Water Productivity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Drip delivers 6.26 t/1,000 m³ water efficiency, ensuring maximum biological crop output per unit volume of water consumed.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Flood Irrigation Inefficiency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Flood irrigation proves lowest in profitability (₹9,005/Ha) and water efficiency (3.44 t/1,000 m³), squandering massive ground table reserves.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3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3: Seasonal Macroeconomic Breakdown (Cost, Revenue, Profit)</a:t>
            </a:r>
          </a:p>
        </p:txBody>
      </p:sp>
      <p:pic>
        <p:nvPicPr>
          <p:cNvPr id="6" name="Picture 5" descr="03_economic_returns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Kharif High-Profit Regime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Kharif generates ₹711k in revenue against ₹532k in cost, producing the highest seasonal profit margin of ₹179k per farm (₹21,973/Ha).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Rabi Economic Stability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Rabi produces ₹602k revenue and ₹514k cost, delivering stable positive net earnings of ₹88k per farm (₹10,429/Ha).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Zaid Financial Inversion Deficit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Zaid farms suffer an average net deficit of -₹24k (-₹2,519/Ha) as high summer pumping/labor costs (₹544k) outpace realized revenues (₹520k). ANOVA F = 34.40, p = 1.54 × 10⁻¹⁵.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4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4: Agrochemical Application vs. Pest/Disease Vulnerability</a:t>
            </a:r>
          </a:p>
        </p:txBody>
      </p:sp>
      <p:pic>
        <p:nvPicPr>
          <p:cNvPr id="6" name="Picture 5" descr="04_pesticide_fertilizer_pest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Environmental Climatological Driver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Pest vulnerability surges to 54.47% in Kharif vs. 40.48% in Rabi and 38.22% in Zaid, driven by monsoon atmospheric humidity &gt; 75%.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Weak Chemical Dosage Correlation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Pesticide dosage (r = 0.015, p = 0.35) and fertilizer dosage (r = 0.033, p = 0.038) demonstrate negligible linear correlation with pest risk reduction.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Integrated Pest Management (IPM) Need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Uncalibrated chemical over-application fails to mitigate risk; preventive telemetry and biological pest controls are essential.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5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5: Seasonal Crop Performance Matrix (Profit &amp; Productivity)</a:t>
            </a:r>
          </a:p>
        </p:txBody>
      </p:sp>
      <p:pic>
        <p:nvPicPr>
          <p:cNvPr id="6" name="Picture 5" descr="05_crop_performa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High-Margin Cash Crops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Sugarcane and Chilli generate superior profitability (₹60,000 - ₹150,000/Ha) and tonnage (Sugarcane: 40 - 75 t/Ha) across Kharif and Rabi.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Food Security Staples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Rice (2.5 - 4.5 t/Ha) and Wheat (2.0 - 4.0 t/Ha) deliver steady staple productivity with low volatility across Kharif and Rabi.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Zaid Crop Selection Guidelines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Summer farming should prioritize drought-tolerant pulses and short-duration oilseeds (Groundnut) supported by drip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Future Scope &amp; Agritech Innovation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🤖 Machine Learning Yield Prediction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Deploy XGBoost, LightGBM, and Random Forest ensemble regressors to predict micro-climate farm yields with R² &gt; 0.90.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📡 Real-Time IoT Soil Sensor Integration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Ingest telemetry from ground-level N-P-K, pH, and capacitive soil moisture probes for automated variable-rate drip fertigation.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🌦️ Micro-Climate Crop Advisory Systems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AI-driven hyper-local mobile advisory delivering real-time pest alerts and market price intelligence directly to smallholders.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🛰️ Satellite Remote Sensing (NDVI/EVI)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Incorporate Sentinel-2 and Landsat optical/SAR imagery to monitor crop canopy health and stress index in real-time.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Project Repository &amp; Google Colab Interactive Links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57800" cy="2011680"/>
          </a:xfrm>
          <a:prstGeom prst="roundRect">
            <a:avLst/>
          </a:prstGeom>
          <a:solidFill>
            <a:srgbClr val="1C1C1C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0000"/>
                </a:solidFill>
              </a:defRPr>
            </a:pPr>
            <a:r>
              <a:t>🐙 OFFICIAL GITHUB REPOSITORY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https://github.com/&lt;YOUR-USERNAME&gt;/VOIS-Seasonal-Agriculture-Performance-Analysis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Complete production codebase, datasets, and presentation deck.</a:t>
            </a:r>
            <a:br/>
            <a:r>
              <a:t>• Full Git commit history &amp; structured directory hierarchy.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280160"/>
            <a:ext cx="5257800" cy="2011680"/>
          </a:xfrm>
          <a:prstGeom prst="roundRect">
            <a:avLst/>
          </a:prstGeom>
          <a:solidFill>
            <a:srgbClr val="1C1C1C"/>
          </a:solidFill>
          <a:ln w="15240">
            <a:solidFill>
              <a:srgbClr val="E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9500"/>
                </a:solidFill>
              </a:defRPr>
            </a:pPr>
            <a:r>
              <a:t>⚡ GOOGLE COLAB INTERACTIVE NOTEBOOK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</a:defRPr>
            </a:pPr>
            <a:r>
              <a:t>https://colab.research.google.com/github/&lt;YOUR-USERNAME&gt;/VOIS-Seasonal-Agriculture-Performance-Analysis/blob/main/notebooks/Seasonal_Agriculture_Performance_Analysis.ipynb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1-Click Cloud Execution: Run end-to-end EDA and statistical ANOVA directly in your browser.</a:t>
            </a:r>
            <a:br/>
            <a:r>
              <a:t>• Zero setup required: Auto-fetches dataset and renders interactive charts.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8655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📁 Structured Deliverables &amp; Reproduction Directory Index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data/           : Contains raw CSV (4,000 records) and cleaned dataset with stratified median imputation.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notebooks/      : Seasonal_Agriculture_Performance_Analysis.ipynb - Google Colab compatible research notebook.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src/            : analyze_and_visualize.py (Data &amp; EDA pipeline), update_presentation.py (Deck builder).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results/        : 5 High-resolution publication charts (.png) and statistical_summary.json metrics.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docs/           : VOIS_Major_Project_Final_Submission.pptx - 14-slide executive submission presentation.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VOIS Data Visualization Course Completion Certificate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371600"/>
            <a:ext cx="8899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[Insert VOIS Data Visualization Certificate Here]</a:t>
            </a:r>
          </a:p>
          <a:p>
            <a:pPr algn="ctr">
              <a:spcBef>
                <a:spcPts val="1000"/>
              </a:spcBef>
              <a:defRPr sz="1200">
                <a:solidFill>
                  <a:srgbClr val="3C4043"/>
                </a:solidFill>
              </a:defRPr>
            </a:pPr>
            <a:r>
              <a:t>Paste your official Vodafone Intelligent Solutions (_VOIS) Data Visualization course certificate image here prior to final submission.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E60000"/>
                </a:solidFill>
              </a:defRPr>
            </a:pPr>
            <a:r>
              <a:t>VOIS AICTE INTERNSHIP (BATCH 1 2026-2027) - MAJOR PROJECT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DCE1E6"/>
                </a:solidFill>
              </a:defRPr>
            </a:pPr>
            <a:r>
              <a:t>Seasonal Agriculture Performance Analysis</a:t>
            </a:r>
          </a:p>
          <a:p>
            <a:pPr algn="ctr">
              <a:spcBef>
                <a:spcPts val="2500"/>
              </a:spcBef>
              <a:defRPr sz="1300">
                <a:solidFill>
                  <a:srgbClr val="B4B9BE"/>
                </a:solidFill>
              </a:defRPr>
            </a:pPr>
            <a:r>
              <a:t>Contact &amp; Student Information:</a:t>
            </a:r>
            <a:br/>
            <a:r>
              <a:t>Student: [Student Name]  |  Email: [Your Email]  |  LinkedIn: [Your LinkedIn Profile]</a:t>
            </a:r>
            <a:br/>
            <a:r>
              <a:t>AICTE Student ID: [AICTE STU ID]  |  College: [College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