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60000"/>
                </a:solidFill>
                <a:latin typeface="Arial"/>
              </a:defRPr>
            </a:pPr>
            <a:r>
              <a:t>VOIS AICTE INTERNSHIP (BATCH 1: 2026-2027) | MAJOR PROJECT</a:t>
            </a:r>
          </a:p>
          <a:p>
            <a:pPr>
              <a:spcBef>
                <a:spcPts val="1000"/>
              </a:spcBef>
              <a:defRPr sz="3600" b="1">
                <a:solidFill>
                  <a:srgbClr val="FFFFFF"/>
                </a:solidFill>
                <a:latin typeface="Arial"/>
              </a:defRPr>
            </a:pPr>
            <a:r>
              <a:t>Seasonal Agriculture Performance Analysis</a:t>
            </a:r>
          </a:p>
          <a:p>
            <a:pPr>
              <a:spcBef>
                <a:spcPts val="800"/>
              </a:spcBef>
              <a:defRPr sz="1600">
                <a:solidFill>
                  <a:srgbClr val="C8CDD2"/>
                </a:solidFill>
                <a:latin typeface="Arial"/>
              </a:defRPr>
            </a:pPr>
            <a:r>
              <a:t>Empirical Data Analytics, Environmental Risk Modeling &amp; Agritech Strategic Optimization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3657600"/>
            <a:ext cx="9875520" cy="2011680"/>
          </a:xfrm>
          <a:prstGeom prst="roundRect">
            <a:avLst/>
          </a:prstGeom>
          <a:solidFill>
            <a:srgbClr val="262A2E"/>
          </a:solidFill>
          <a:ln w="15240">
            <a:solidFill>
              <a:srgbClr val="E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60000"/>
                </a:solidFill>
                <a:latin typeface="Arial"/>
              </a:defRPr>
            </a:pPr>
            <a:r>
              <a:t>PROJECT SUBMISSION CREDENTIALS</a:t>
            </a:r>
          </a:p>
          <a:p>
            <a:pPr>
              <a:spcBef>
                <a:spcPts val="300"/>
              </a:spcBef>
              <a:defRPr sz="1200">
                <a:solidFill>
                  <a:srgbClr val="FFFFFF"/>
                </a:solidFill>
                <a:latin typeface="Arial"/>
              </a:defRPr>
            </a:pPr>
            <a:r>
              <a:t>•  Student Name: [Student Name]</a:t>
            </a:r>
          </a:p>
          <a:p>
            <a:pPr>
              <a:spcBef>
                <a:spcPts val="300"/>
              </a:spcBef>
              <a:defRPr sz="1200">
                <a:solidFill>
                  <a:srgbClr val="FFFFFF"/>
                </a:solidFill>
                <a:latin typeface="Arial"/>
              </a:defRPr>
            </a:pPr>
            <a:r>
              <a:t>•  College Name: [College Name]</a:t>
            </a:r>
          </a:p>
          <a:p>
            <a:pPr>
              <a:spcBef>
                <a:spcPts val="300"/>
              </a:spcBef>
              <a:defRPr sz="1200">
                <a:solidFill>
                  <a:srgbClr val="FFFFFF"/>
                </a:solidFill>
                <a:latin typeface="Arial"/>
              </a:defRPr>
            </a:pPr>
            <a:r>
              <a:t>•  AICTE Student ID: [AICTE STU ID]</a:t>
            </a:r>
          </a:p>
          <a:p>
            <a:pPr>
              <a:spcBef>
                <a:spcPts val="300"/>
              </a:spcBef>
              <a:defRPr sz="1200">
                <a:solidFill>
                  <a:srgbClr val="FFFFFF"/>
                </a:solidFill>
                <a:latin typeface="Arial"/>
              </a:defRPr>
            </a:pPr>
            <a:r>
              <a:t>•  Internship Track: Data Visualization &amp; Analytics | Vodafone Intelligent Solutions (_VOIS)</a:t>
            </a:r>
          </a:p>
          <a:p>
            <a:pPr>
              <a:spcBef>
                <a:spcPts val="300"/>
              </a:spcBef>
              <a:defRPr sz="1200">
                <a:solidFill>
                  <a:srgbClr val="FFFFFF"/>
                </a:solidFill>
                <a:latin typeface="Arial"/>
              </a:defRPr>
            </a:pPr>
            <a:r>
              <a:t>•  Academic Batch: Batch 1 (2026-2027)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80868B"/>
                </a:solidFill>
                <a:latin typeface="Arial"/>
              </a:defRPr>
            </a:pPr>
            <a:r>
              <a:t>VOIS AICTE Internship (Batch 1 2026-2027) | Seasonal Agriculture Performance Analysis | Slide 1 of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60000"/>
                </a:solidFill>
                <a:latin typeface="Arial"/>
              </a:defRPr>
            </a:pPr>
            <a:r>
              <a:t>VOIS AICTE INTERNSHIP - MAJOR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Problem Statement: Challenges in Indian Seasonal Agriculture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E60000"/>
                </a:solidFill>
              </a:defRPr>
            </a:pPr>
            <a:r>
              <a:t>🚨 Core Problem &amp; Seasonal Vulnerabilities</a:t>
            </a:r>
          </a:p>
          <a:p>
            <a:pPr>
              <a:spcBef>
                <a:spcPts val="1200"/>
              </a:spcBef>
              <a:defRPr sz="1250">
                <a:solidFill>
                  <a:srgbClr val="1C1C1C"/>
                </a:solidFill>
              </a:defRPr>
            </a:pPr>
            <a:r>
              <a:t>• Unpredictable Seasonal Transitions: Extreme meteorological variations between Monsoon (Kharif), Winter (Rabi), and Summer (Zaid) create volatile yields.</a:t>
            </a:r>
          </a:p>
          <a:p>
            <a:pPr>
              <a:spcBef>
                <a:spcPts val="1200"/>
              </a:spcBef>
              <a:defRPr sz="1250">
                <a:solidFill>
                  <a:srgbClr val="1C1C1C"/>
                </a:solidFill>
              </a:defRPr>
            </a:pPr>
            <a:r>
              <a:t>• Monsoon Over-Reliance: Over 60% of smallholders lack dynamic adaptive planning, exposing crops to sudden moisture deficits or severe humidity-induced pest surges.</a:t>
            </a:r>
          </a:p>
          <a:p>
            <a:pPr>
              <a:spcBef>
                <a:spcPts val="1200"/>
              </a:spcBef>
              <a:defRPr sz="1250">
                <a:solidFill>
                  <a:srgbClr val="1C1C1C"/>
                </a:solidFill>
              </a:defRPr>
            </a:pPr>
            <a:r>
              <a:t>• Economic Margin Erosion: High input costs (power, water pumping, fertilizers) in summer cycles (Zaid) frequently exceed harvest market revenues.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21208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C1C1C"/>
                </a:solidFill>
              </a:defRPr>
            </a:pPr>
            <a:r>
              <a:t>💡 Research Scope &amp; Empirical Objectives</a:t>
            </a:r>
          </a:p>
          <a:p>
            <a:pPr>
              <a:spcBef>
                <a:spcPts val="1200"/>
              </a:spcBef>
              <a:defRPr sz="1250">
                <a:solidFill>
                  <a:srgbClr val="3C4043"/>
                </a:solidFill>
              </a:defRPr>
            </a:pPr>
            <a:r>
              <a:t>• Eliminate Empirical Intuition: Replace traditional unquantified farming decisions with rigorous statistical and financial modeling.</a:t>
            </a:r>
          </a:p>
          <a:p>
            <a:pPr>
              <a:spcBef>
                <a:spcPts val="1200"/>
              </a:spcBef>
              <a:defRPr sz="1250">
                <a:solidFill>
                  <a:srgbClr val="3C4043"/>
                </a:solidFill>
              </a:defRPr>
            </a:pPr>
            <a:r>
              <a:t>• Resource Mismatch Rectification: Quantify irrigation inefficiencies (Flood vs. Drip) to prevent groundwater squandering and input over-application.</a:t>
            </a:r>
          </a:p>
          <a:p>
            <a:pPr>
              <a:spcBef>
                <a:spcPts val="1200"/>
              </a:spcBef>
              <a:defRPr sz="1250">
                <a:solidFill>
                  <a:srgbClr val="3C4043"/>
                </a:solidFill>
              </a:defRPr>
            </a:pPr>
            <a:r>
              <a:t>• Evidence-Based Agritech Planning: Deliver clear crop-season affinity matrices and actionable decision thresholds for policy makers and farming communities.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80868B"/>
                </a:solidFill>
                <a:latin typeface="Arial"/>
              </a:defRPr>
            </a:pPr>
            <a:r>
              <a:t>VOIS AICTE Internship (Batch 1 2026-2027) | Seasonal Agriculture Performance Analysis | Slide 2 of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60000"/>
                </a:solidFill>
                <a:latin typeface="Arial"/>
              </a:defRPr>
            </a:pPr>
            <a:r>
              <a:t>VOIS AICTE INTERNSHIP - MAJOR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Project Description &amp; Dataset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2560320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E60000"/>
                </a:solidFill>
              </a:defRPr>
            </a:pPr>
            <a:r>
              <a:t>4,000</a:t>
            </a:r>
          </a:p>
          <a:p>
            <a:pPr algn="ctr">
              <a:defRPr sz="950">
                <a:solidFill>
                  <a:srgbClr val="3C4043"/>
                </a:solidFill>
              </a:defRPr>
            </a:pPr>
            <a:r>
              <a:t>Farm Samples Analyzed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1280160"/>
            <a:ext cx="2560320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1C1C1C"/>
                </a:solidFill>
              </a:defRPr>
            </a:pPr>
            <a:r>
              <a:t>8 States</a:t>
            </a:r>
          </a:p>
          <a:p>
            <a:pPr algn="ctr">
              <a:defRPr sz="950">
                <a:solidFill>
                  <a:srgbClr val="3C4043"/>
                </a:solidFill>
              </a:defRPr>
            </a:pPr>
            <a:r>
              <a:t>Pan-India Agricultural Coverage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280160"/>
            <a:ext cx="2560320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08B8B"/>
                </a:solidFill>
              </a:defRPr>
            </a:pPr>
            <a:r>
              <a:t>3 Seasons</a:t>
            </a:r>
          </a:p>
          <a:p>
            <a:pPr algn="ctr">
              <a:defRPr sz="950">
                <a:solidFill>
                  <a:srgbClr val="3C4043"/>
                </a:solidFill>
              </a:defRPr>
            </a:pPr>
            <a:r>
              <a:t>Kharif, Rabi, and Zaid Cycles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06256" y="1280160"/>
            <a:ext cx="2560320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E69500"/>
                </a:solidFill>
              </a:defRPr>
            </a:pPr>
            <a:r>
              <a:t>28 Features</a:t>
            </a:r>
          </a:p>
          <a:p>
            <a:pPr algn="ctr">
              <a:defRPr sz="950">
                <a:solidFill>
                  <a:srgbClr val="3C4043"/>
                </a:solidFill>
              </a:defRPr>
            </a:pPr>
            <a:r>
              <a:t>Environmental, Soil &amp; Economics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651760"/>
            <a:ext cx="10728655" cy="3474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C1C1C"/>
                </a:solidFill>
              </a:defRPr>
            </a:pPr>
            <a:r>
              <a:t>Comprehensive Agronomic &amp; Economic Analytical Dimensions</a:t>
            </a:r>
          </a:p>
          <a:p>
            <a:pPr>
              <a:spcBef>
                <a:spcPts val="800"/>
              </a:spcBef>
              <a:defRPr sz="1200">
                <a:solidFill>
                  <a:srgbClr val="3C4043"/>
                </a:solidFill>
              </a:defRPr>
            </a:pPr>
            <a:r>
              <a:t>•  Geographic &amp; Soil Diversity: Granular observations across Andhra Pradesh, Gujarat, Karnataka, Madhya Pradesh, Maharashtra, Punjab, Tamil Nadu, and Telangana covering pH (5.2 - 8.4), Soil Moisture, and N-P-K nutrient profiles.</a:t>
            </a:r>
          </a:p>
          <a:p>
            <a:pPr>
              <a:spcBef>
                <a:spcPts val="800"/>
              </a:spcBef>
              <a:defRPr sz="1200">
                <a:solidFill>
                  <a:srgbClr val="3C4043"/>
                </a:solidFill>
              </a:defRPr>
            </a:pPr>
            <a:r>
              <a:t>•  Meteorological &amp; Irrigation Inputs: Systematic telemetry including Seasonal Rainfall (mm), Temperature (°C), Humidity (%), Sunlight Hours, and Water Volumes across 4 irrigation modes (Drip, Sprinkler, Rainfed, Flood).</a:t>
            </a:r>
          </a:p>
          <a:p>
            <a:pPr>
              <a:spcBef>
                <a:spcPts val="800"/>
              </a:spcBef>
              <a:defRPr sz="1200">
                <a:solidFill>
                  <a:srgbClr val="3C4043"/>
                </a:solidFill>
              </a:defRPr>
            </a:pPr>
            <a:r>
              <a:t>•  Financial &amp; Productivity Metrics: Full micro-economic auditing computing Production (Tonnes), Cost (₹), Revenue (₹), Net Profit (₹), Profit/Ha, and Water Productivity ($t/1,000 m^3$).</a:t>
            </a:r>
          </a:p>
          <a:p>
            <a:pPr>
              <a:spcBef>
                <a:spcPts val="800"/>
              </a:spcBef>
              <a:defRPr sz="1200">
                <a:solidFill>
                  <a:srgbClr val="3C4043"/>
                </a:solidFill>
              </a:defRPr>
            </a:pPr>
            <a:r>
              <a:t>•  Risk Profiling: Quantitative assessment of chemical load (Pesticides, Fertilizers, Seed Quality) against Disease and Pest Vulnerability risk percentages.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80868B"/>
                </a:solidFill>
                <a:latin typeface="Arial"/>
              </a:defRPr>
            </a:pPr>
            <a:r>
              <a:t>VOIS AICTE Internship (Batch 1 2026-2027) | Seasonal Agriculture Performance Analysis | Slide 3 of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60000"/>
                </a:solidFill>
                <a:latin typeface="Arial"/>
              </a:defRPr>
            </a:pPr>
            <a:r>
              <a:t>VOIS AICTE INTERNSHIP - MAJOR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Target End Users &amp; Stakeholder Value Proposition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257800" cy="2331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E60000"/>
                </a:solidFill>
              </a:defRPr>
            </a:pPr>
            <a:r>
              <a:t>👨‍🌾 Smallholder Farmers</a:t>
            </a:r>
          </a:p>
          <a:p>
            <a:pPr>
              <a:defRPr sz="950" b="1">
                <a:solidFill>
                  <a:srgbClr val="3C4043"/>
                </a:solidFill>
              </a:defRPr>
            </a:pPr>
            <a:r>
              <a:t>OPERATIONAL DECISIONS</a:t>
            </a:r>
          </a:p>
          <a:p>
            <a:pPr>
              <a:spcBef>
                <a:spcPts val="300"/>
              </a:spcBef>
              <a:defRPr sz="1050">
                <a:solidFill>
                  <a:srgbClr val="1C1C1C"/>
                </a:solidFill>
              </a:defRPr>
            </a:pPr>
            <a:r>
              <a:t>• Select optimal crop-season combinations to maximize net margins.</a:t>
            </a:r>
          </a:p>
          <a:p>
            <a:pPr>
              <a:spcBef>
                <a:spcPts val="300"/>
              </a:spcBef>
              <a:defRPr sz="1050">
                <a:solidFill>
                  <a:srgbClr val="1C1C1C"/>
                </a:solidFill>
              </a:defRPr>
            </a:pPr>
            <a:r>
              <a:t>• Adopt Drip/Sprinkler methods to cut water waste and double ROI.</a:t>
            </a:r>
          </a:p>
          <a:p>
            <a:pPr>
              <a:spcBef>
                <a:spcPts val="300"/>
              </a:spcBef>
              <a:defRPr sz="1050">
                <a:solidFill>
                  <a:srgbClr val="1C1C1C"/>
                </a:solidFill>
              </a:defRPr>
            </a:pPr>
            <a:r>
              <a:t>• Prevent pest outbreaks by timing chemical sprays with humidity alerts.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371600"/>
            <a:ext cx="5257800" cy="2331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C1C1C"/>
                </a:solidFill>
              </a:defRPr>
            </a:pPr>
            <a:r>
              <a:t>🏦 Agri-Fintech &amp; Insurers</a:t>
            </a:r>
          </a:p>
          <a:p>
            <a:pPr>
              <a:defRPr sz="950" b="1">
                <a:solidFill>
                  <a:srgbClr val="3C4043"/>
                </a:solidFill>
              </a:defRPr>
            </a:pPr>
            <a:r>
              <a:t>RISK &amp; CREDIT UNDERWRITING</a:t>
            </a:r>
          </a:p>
          <a:p>
            <a:pPr>
              <a:spcBef>
                <a:spcPts val="300"/>
              </a:spcBef>
              <a:defRPr sz="1050">
                <a:solidFill>
                  <a:srgbClr val="1C1C1C"/>
                </a:solidFill>
              </a:defRPr>
            </a:pPr>
            <a:r>
              <a:t>• Structure parametric insurance based on seasonal rainfall thresholds.</a:t>
            </a:r>
          </a:p>
          <a:p>
            <a:pPr>
              <a:spcBef>
                <a:spcPts val="300"/>
              </a:spcBef>
              <a:defRPr sz="1050">
                <a:solidFill>
                  <a:srgbClr val="1C1C1C"/>
                </a:solidFill>
              </a:defRPr>
            </a:pPr>
            <a:r>
              <a:t>• Assess farmer creditworthiness using empirical profit-per-hectare data.</a:t>
            </a:r>
          </a:p>
          <a:p>
            <a:pPr>
              <a:spcBef>
                <a:spcPts val="300"/>
              </a:spcBef>
              <a:defRPr sz="1050">
                <a:solidFill>
                  <a:srgbClr val="1C1C1C"/>
                </a:solidFill>
              </a:defRPr>
            </a:pPr>
            <a:r>
              <a:t>• Reduce loan default rates through automated seasonal risk scoring.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5257800" cy="2331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8B8B"/>
                </a:solidFill>
              </a:defRPr>
            </a:pPr>
            <a:r>
              <a:t>🚚 Supply Chain &amp; FMCG</a:t>
            </a:r>
          </a:p>
          <a:p>
            <a:pPr>
              <a:defRPr sz="950" b="1">
                <a:solidFill>
                  <a:srgbClr val="3C4043"/>
                </a:solidFill>
              </a:defRPr>
            </a:pPr>
            <a:r>
              <a:t>PROCUREMENT &amp; INVENTORY</a:t>
            </a:r>
          </a:p>
          <a:p>
            <a:pPr>
              <a:spcBef>
                <a:spcPts val="300"/>
              </a:spcBef>
              <a:defRPr sz="1050">
                <a:solidFill>
                  <a:srgbClr val="1C1C1C"/>
                </a:solidFill>
              </a:defRPr>
            </a:pPr>
            <a:r>
              <a:t>• Forecast harvest volume across Kharif and Rabi with high fidelity.</a:t>
            </a:r>
          </a:p>
          <a:p>
            <a:pPr>
              <a:spcBef>
                <a:spcPts val="300"/>
              </a:spcBef>
              <a:defRPr sz="1050">
                <a:solidFill>
                  <a:srgbClr val="1C1C1C"/>
                </a:solidFill>
              </a:defRPr>
            </a:pPr>
            <a:r>
              <a:t>• Optimize warehousing capacity before seasonal harvest arrivals.</a:t>
            </a:r>
          </a:p>
          <a:p>
            <a:pPr>
              <a:spcBef>
                <a:spcPts val="300"/>
              </a:spcBef>
              <a:defRPr sz="1050">
                <a:solidFill>
                  <a:srgbClr val="1C1C1C"/>
                </a:solidFill>
              </a:defRPr>
            </a:pPr>
            <a:r>
              <a:t>• Minimize supply shocks for agro-processing commodities (Sugarcane, Chilli).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840480"/>
            <a:ext cx="5257800" cy="2331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E69500"/>
                </a:solidFill>
              </a:defRPr>
            </a:pPr>
            <a:r>
              <a:t>🏛️ Extension Officers &amp; Policy</a:t>
            </a:r>
          </a:p>
          <a:p>
            <a:pPr>
              <a:defRPr sz="950" b="1">
                <a:solidFill>
                  <a:srgbClr val="3C4043"/>
                </a:solidFill>
              </a:defRPr>
            </a:pPr>
            <a:r>
              <a:t>AGRITECH POLICY IMPLEMENTATION</a:t>
            </a:r>
          </a:p>
          <a:p>
            <a:pPr>
              <a:spcBef>
                <a:spcPts val="300"/>
              </a:spcBef>
              <a:defRPr sz="1050">
                <a:solidFill>
                  <a:srgbClr val="1C1C1C"/>
                </a:solidFill>
              </a:defRPr>
            </a:pPr>
            <a:r>
              <a:t>• Direct government subsidies towards high-efficiency micro-irrigation.</a:t>
            </a:r>
          </a:p>
          <a:p>
            <a:pPr>
              <a:spcBef>
                <a:spcPts val="300"/>
              </a:spcBef>
              <a:defRPr sz="1050">
                <a:solidFill>
                  <a:srgbClr val="1C1C1C"/>
                </a:solidFill>
              </a:defRPr>
            </a:pPr>
            <a:r>
              <a:t>• Target IPM (Integrated Pest Management) campaigns in high-risk Kharif zones.</a:t>
            </a:r>
          </a:p>
          <a:p>
            <a:pPr>
              <a:spcBef>
                <a:spcPts val="300"/>
              </a:spcBef>
              <a:defRPr sz="1050">
                <a:solidFill>
                  <a:srgbClr val="1C1C1C"/>
                </a:solidFill>
              </a:defRPr>
            </a:pPr>
            <a:r>
              <a:t>• Deploy regional soil health interventions based on N-P-K deficiency maps.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80868B"/>
                </a:solidFill>
                <a:latin typeface="Arial"/>
              </a:defRPr>
            </a:pPr>
            <a:r>
              <a:t>VOIS AICTE Internship (Batch 1 2026-2027) | Seasonal Agriculture Performance Analysis | Slide 4 of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60000"/>
                </a:solidFill>
                <a:latin typeface="Arial"/>
              </a:defRPr>
            </a:pPr>
            <a:r>
              <a:t>VOIS AICTE INTERNSHIP - MAJOR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Technology Stack &amp; Analytical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728655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E60000"/>
                </a:solidFill>
              </a:defRPr>
            </a:pPr>
            <a:r>
              <a:t>⚙️ Python 3.10+ &amp; Data Engine</a:t>
            </a:r>
          </a:p>
          <a:p>
            <a:pPr>
              <a:spcBef>
                <a:spcPts val="200"/>
              </a:spcBef>
              <a:defRPr sz="1100">
                <a:solidFill>
                  <a:srgbClr val="1C1C1C"/>
                </a:solidFill>
              </a:defRPr>
            </a:pPr>
            <a:r>
              <a:t>   •  Pandas: High-performance data manipulation &amp; aggregation</a:t>
            </a:r>
          </a:p>
          <a:p>
            <a:pPr>
              <a:spcBef>
                <a:spcPts val="200"/>
              </a:spcBef>
              <a:defRPr sz="1100">
                <a:solidFill>
                  <a:srgbClr val="1C1C1C"/>
                </a:solidFill>
              </a:defRPr>
            </a:pPr>
            <a:r>
              <a:t>   •  NumPy: Numerical vectorization &amp; matrix operations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06040"/>
            <a:ext cx="10728655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C1C1C"/>
                </a:solidFill>
              </a:defRPr>
            </a:pPr>
            <a:r>
              <a:t>⚙️ Statistical &amp; Inferential Modeling</a:t>
            </a:r>
          </a:p>
          <a:p>
            <a:pPr>
              <a:spcBef>
                <a:spcPts val="200"/>
              </a:spcBef>
              <a:defRPr sz="1100">
                <a:solidFill>
                  <a:srgbClr val="1C1C1C"/>
                </a:solidFill>
              </a:defRPr>
            </a:pPr>
            <a:r>
              <a:t>   •  Scipy.stats: ANOVA ($F$-statistic) and Kruskal-Wallis ($H$-test)</a:t>
            </a:r>
          </a:p>
          <a:p>
            <a:pPr>
              <a:spcBef>
                <a:spcPts val="200"/>
              </a:spcBef>
              <a:defRPr sz="1100">
                <a:solidFill>
                  <a:srgbClr val="1C1C1C"/>
                </a:solidFill>
              </a:defRPr>
            </a:pPr>
            <a:r>
              <a:t>   •  Statsmodels: Linear OLS regression and trend analysis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10728655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8B8B"/>
                </a:solidFill>
              </a:defRPr>
            </a:pPr>
            <a:r>
              <a:t>⚙️ Publication Visualization</a:t>
            </a:r>
          </a:p>
          <a:p>
            <a:pPr>
              <a:spcBef>
                <a:spcPts val="200"/>
              </a:spcBef>
              <a:defRPr sz="1100">
                <a:solidFill>
                  <a:srgbClr val="1C1C1C"/>
                </a:solidFill>
              </a:defRPr>
            </a:pPr>
            <a:r>
              <a:t>   •  Matplotlib: High-resolution dual-axis and grouped layouts</a:t>
            </a:r>
          </a:p>
          <a:p>
            <a:pPr>
              <a:spcBef>
                <a:spcPts val="200"/>
              </a:spcBef>
              <a:defRPr sz="1100">
                <a:solidFill>
                  <a:srgbClr val="1C1C1C"/>
                </a:solidFill>
              </a:defRPr>
            </a:pPr>
            <a:r>
              <a:t>   •  Seaborn: Heatmap matrices and statistical regression plotting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074920"/>
            <a:ext cx="10728655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E69500"/>
                </a:solidFill>
              </a:defRPr>
            </a:pPr>
            <a:r>
              <a:t>⚙️ Automation &amp; Deliverables</a:t>
            </a:r>
          </a:p>
          <a:p>
            <a:pPr>
              <a:spcBef>
                <a:spcPts val="200"/>
              </a:spcBef>
              <a:defRPr sz="1100">
                <a:solidFill>
                  <a:srgbClr val="1C1C1C"/>
                </a:solidFill>
              </a:defRPr>
            </a:pPr>
            <a:r>
              <a:t>   •  python-pptx: Programmatic corporate deck generation</a:t>
            </a:r>
          </a:p>
          <a:p>
            <a:pPr>
              <a:spcBef>
                <a:spcPts val="200"/>
              </a:spcBef>
              <a:defRPr sz="1100">
                <a:solidFill>
                  <a:srgbClr val="1C1C1C"/>
                </a:solidFill>
              </a:defRPr>
            </a:pPr>
            <a:r>
              <a:t>   •  nbformat &amp; Jupyter: Documented reproducible research notebook</a:t>
            </a:r>
          </a:p>
          <a:p>
            <a:pPr>
              <a:spcBef>
                <a:spcPts val="200"/>
              </a:spcBef>
              <a:defRPr sz="1100">
                <a:solidFill>
                  <a:srgbClr val="1C1C1C"/>
                </a:solidFill>
              </a:defRPr>
            </a:pPr>
            <a:r>
              <a:t>   •  Git &amp; GitHub: Version control &amp; public repository index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80868B"/>
                </a:solidFill>
                <a:latin typeface="Arial"/>
              </a:defRPr>
            </a:pPr>
            <a:r>
              <a:t>VOIS AICTE Internship (Batch 1 2026-2027) | Seasonal Agriculture Performance Analysis | Slide 5 of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60000"/>
                </a:solidFill>
                <a:latin typeface="Arial"/>
              </a:defRPr>
            </a:pPr>
            <a:r>
              <a:t>RESULT &amp; EMPIRICAL FINDINGS (CHART 1 OF 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Result 1: Seasonal Agronomic Dynamics (Yield vs. Rainfall)</a:t>
            </a:r>
          </a:p>
        </p:txBody>
      </p:sp>
      <p:pic>
        <p:nvPicPr>
          <p:cNvPr id="6" name="Picture 5" descr="01_seasonal_yield_rain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6217920" cy="47548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0" y="1325880"/>
            <a:ext cx="4327855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E60000"/>
                </a:solidFill>
              </a:defRPr>
            </a:pPr>
            <a:r>
              <a:t>📊 Key Analytical Insights</a:t>
            </a:r>
          </a:p>
          <a:p>
            <a:pPr>
              <a:spcBef>
                <a:spcPts val="1200"/>
              </a:spcBef>
              <a:defRPr sz="1200" b="1">
                <a:solidFill>
                  <a:srgbClr val="1C1C1C"/>
                </a:solidFill>
              </a:defRPr>
            </a:pPr>
            <a:r>
              <a:t>1. Monsoon-Driven Crop Yields</a:t>
            </a:r>
          </a:p>
          <a:p>
            <a:pPr>
              <a:spcBef>
                <a:spcPts val="200"/>
              </a:spcBef>
              <a:defRPr sz="1050">
                <a:solidFill>
                  <a:srgbClr val="3C4043"/>
                </a:solidFill>
              </a:defRPr>
            </a:pPr>
            <a:r>
              <a:t>Kharif yields peak at 5.63 Tonnes/Ha driven by heavy monsoon rainfall (mean 852.1 mm), compared to 5.09 t/Ha in Rabi and 4.64 t/Ha in Zaid.</a:t>
            </a:r>
          </a:p>
          <a:p>
            <a:pPr>
              <a:spcBef>
                <a:spcPts val="1200"/>
              </a:spcBef>
              <a:defRPr sz="1200" b="1">
                <a:solidFill>
                  <a:srgbClr val="1C1C1C"/>
                </a:solidFill>
              </a:defRPr>
            </a:pPr>
            <a:r>
              <a:t>2. Precipitation Gradient Across Cycles</a:t>
            </a:r>
          </a:p>
          <a:p>
            <a:pPr>
              <a:spcBef>
                <a:spcPts val="200"/>
              </a:spcBef>
              <a:defRPr sz="1050">
                <a:solidFill>
                  <a:srgbClr val="3C4043"/>
                </a:solidFill>
              </a:defRPr>
            </a:pPr>
            <a:r>
              <a:t>Rainfall drops steeply by 48.8% in Rabi (435.9 mm) and 64.9% in Zaid (299.2 mm), necessitating supplementary artificial irrigation.</a:t>
            </a:r>
          </a:p>
          <a:p>
            <a:pPr>
              <a:spcBef>
                <a:spcPts val="1200"/>
              </a:spcBef>
              <a:defRPr sz="1200" b="1">
                <a:solidFill>
                  <a:srgbClr val="1C1C1C"/>
                </a:solidFill>
              </a:defRPr>
            </a:pPr>
            <a:r>
              <a:t>3. Statistically Significant Variation</a:t>
            </a:r>
          </a:p>
          <a:p>
            <a:pPr>
              <a:spcBef>
                <a:spcPts val="200"/>
              </a:spcBef>
              <a:defRPr sz="1050">
                <a:solidFill>
                  <a:srgbClr val="3C4043"/>
                </a:solidFill>
              </a:defRPr>
            </a:pPr>
            <a:r>
              <a:t>Kruskal-Wallis testing confirms highly significant seasonal differences in crop yield distributions (H = 70.26, p = 5.52 × 10⁻¹⁶).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80868B"/>
                </a:solidFill>
                <a:latin typeface="Arial"/>
              </a:defRPr>
            </a:pPr>
            <a:r>
              <a:t>VOIS AICTE Internship (Batch 1 2026-2027) | Seasonal Agriculture Performance Analysis | Slide 6 of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60000"/>
                </a:solidFill>
                <a:latin typeface="Arial"/>
              </a:defRPr>
            </a:pPr>
            <a:r>
              <a:t>RESULT &amp; EMPIRICAL FINDINGS (CHART 2 OF 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Result 2: Irrigation Method Efficiency vs. Net Profitability</a:t>
            </a:r>
          </a:p>
        </p:txBody>
      </p:sp>
      <p:pic>
        <p:nvPicPr>
          <p:cNvPr id="6" name="Picture 5" descr="02_irrigation_profit_effici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6217920" cy="47548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0" y="1325880"/>
            <a:ext cx="4327855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E60000"/>
                </a:solidFill>
              </a:defRPr>
            </a:pPr>
            <a:r>
              <a:t>📊 Key Analytical Insights</a:t>
            </a:r>
          </a:p>
          <a:p>
            <a:pPr>
              <a:spcBef>
                <a:spcPts val="1200"/>
              </a:spcBef>
              <a:defRPr sz="1200" b="1">
                <a:solidFill>
                  <a:srgbClr val="1C1C1C"/>
                </a:solidFill>
              </a:defRPr>
            </a:pPr>
            <a:r>
              <a:t>1. Drip Irrigation Financial Premium</a:t>
            </a:r>
          </a:p>
          <a:p>
            <a:pPr>
              <a:spcBef>
                <a:spcPts val="200"/>
              </a:spcBef>
              <a:defRPr sz="1050">
                <a:solidFill>
                  <a:srgbClr val="3C4043"/>
                </a:solidFill>
              </a:defRPr>
            </a:pPr>
            <a:r>
              <a:t>Drip irrigation achieves the highest average net profit of ₹25,544/Ha (₹218,659/farm), nearly triple that of traditional flood methods.</a:t>
            </a:r>
          </a:p>
          <a:p>
            <a:pPr>
              <a:spcBef>
                <a:spcPts val="1200"/>
              </a:spcBef>
              <a:defRPr sz="1200" b="1">
                <a:solidFill>
                  <a:srgbClr val="1C1C1C"/>
                </a:solidFill>
              </a:defRPr>
            </a:pPr>
            <a:r>
              <a:t>2. High Water Productivity</a:t>
            </a:r>
          </a:p>
          <a:p>
            <a:pPr>
              <a:spcBef>
                <a:spcPts val="200"/>
              </a:spcBef>
              <a:defRPr sz="1050">
                <a:solidFill>
                  <a:srgbClr val="3C4043"/>
                </a:solidFill>
              </a:defRPr>
            </a:pPr>
            <a:r>
              <a:t>Drip delivers 6.26 t/1,000 m³ water efficiency, ensuring maximum biological crop output per unit volume of water consumed.</a:t>
            </a:r>
          </a:p>
          <a:p>
            <a:pPr>
              <a:spcBef>
                <a:spcPts val="1200"/>
              </a:spcBef>
              <a:defRPr sz="1200" b="1">
                <a:solidFill>
                  <a:srgbClr val="1C1C1C"/>
                </a:solidFill>
              </a:defRPr>
            </a:pPr>
            <a:r>
              <a:t>3. Flood Irrigation Inefficiency</a:t>
            </a:r>
          </a:p>
          <a:p>
            <a:pPr>
              <a:spcBef>
                <a:spcPts val="200"/>
              </a:spcBef>
              <a:defRPr sz="1050">
                <a:solidFill>
                  <a:srgbClr val="3C4043"/>
                </a:solidFill>
              </a:defRPr>
            </a:pPr>
            <a:r>
              <a:t>Flood irrigation proves lowest in profitability (₹9,005/Ha) and water efficiency (3.44 t/1,000 m³), squandering massive ground table reserves.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80868B"/>
                </a:solidFill>
                <a:latin typeface="Arial"/>
              </a:defRPr>
            </a:pPr>
            <a:r>
              <a:t>VOIS AICTE Internship (Batch 1 2026-2027) | Seasonal Agriculture Performance Analysis | Slide 7 of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60000"/>
                </a:solidFill>
                <a:latin typeface="Arial"/>
              </a:defRPr>
            </a:pPr>
            <a:r>
              <a:t>RESULT &amp; EMPIRICAL FINDINGS (CHART 3 OF 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Result 3: Seasonal Macroeconomic Breakdown (Cost, Revenue, Profit)</a:t>
            </a:r>
          </a:p>
        </p:txBody>
      </p:sp>
      <p:pic>
        <p:nvPicPr>
          <p:cNvPr id="6" name="Picture 5" descr="03_economic_returns_sea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6217920" cy="47548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0" y="1325880"/>
            <a:ext cx="4327855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E60000"/>
                </a:solidFill>
              </a:defRPr>
            </a:pPr>
            <a:r>
              <a:t>📊 Key Analytical Insights</a:t>
            </a:r>
          </a:p>
          <a:p>
            <a:pPr>
              <a:spcBef>
                <a:spcPts val="1200"/>
              </a:spcBef>
              <a:defRPr sz="1200" b="1">
                <a:solidFill>
                  <a:srgbClr val="1C1C1C"/>
                </a:solidFill>
              </a:defRPr>
            </a:pPr>
            <a:r>
              <a:t>1. Kharif High-Profit Regime</a:t>
            </a:r>
          </a:p>
          <a:p>
            <a:pPr>
              <a:spcBef>
                <a:spcPts val="200"/>
              </a:spcBef>
              <a:defRPr sz="1050">
                <a:solidFill>
                  <a:srgbClr val="3C4043"/>
                </a:solidFill>
              </a:defRPr>
            </a:pPr>
            <a:r>
              <a:t>Kharif generates ₹711k in revenue against ₹532k in cost, producing the highest seasonal profit margin of ₹179k per farm (₹21,973/Ha).</a:t>
            </a:r>
          </a:p>
          <a:p>
            <a:pPr>
              <a:spcBef>
                <a:spcPts val="1200"/>
              </a:spcBef>
              <a:defRPr sz="1200" b="1">
                <a:solidFill>
                  <a:srgbClr val="1C1C1C"/>
                </a:solidFill>
              </a:defRPr>
            </a:pPr>
            <a:r>
              <a:t>2. Rabi Economic Stability</a:t>
            </a:r>
          </a:p>
          <a:p>
            <a:pPr>
              <a:spcBef>
                <a:spcPts val="200"/>
              </a:spcBef>
              <a:defRPr sz="1050">
                <a:solidFill>
                  <a:srgbClr val="3C4043"/>
                </a:solidFill>
              </a:defRPr>
            </a:pPr>
            <a:r>
              <a:t>Rabi produces ₹602k revenue and ₹514k cost, delivering stable positive net earnings of ₹88k per farm (₹10,429/Ha).</a:t>
            </a:r>
          </a:p>
          <a:p>
            <a:pPr>
              <a:spcBef>
                <a:spcPts val="1200"/>
              </a:spcBef>
              <a:defRPr sz="1200" b="1">
                <a:solidFill>
                  <a:srgbClr val="1C1C1C"/>
                </a:solidFill>
              </a:defRPr>
            </a:pPr>
            <a:r>
              <a:t>3. Zaid Financial Inversion Deficit</a:t>
            </a:r>
          </a:p>
          <a:p>
            <a:pPr>
              <a:spcBef>
                <a:spcPts val="200"/>
              </a:spcBef>
              <a:defRPr sz="1050">
                <a:solidFill>
                  <a:srgbClr val="3C4043"/>
                </a:solidFill>
              </a:defRPr>
            </a:pPr>
            <a:r>
              <a:t>Zaid farms suffer an average net deficit of -₹24k (-₹2,519/Ha) as high summer pumping/labor costs (₹544k) outpace realized revenues (₹520k). ANOVA F = 34.40, p = 1.54 × 10⁻¹⁵.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80868B"/>
                </a:solidFill>
                <a:latin typeface="Arial"/>
              </a:defRPr>
            </a:pPr>
            <a:r>
              <a:t>VOIS AICTE Internship (Batch 1 2026-2027) | Seasonal Agriculture Performance Analysis | Slide 8 of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60000"/>
                </a:solidFill>
                <a:latin typeface="Arial"/>
              </a:defRPr>
            </a:pPr>
            <a:r>
              <a:t>RESULT &amp; EMPIRICAL FINDINGS (CHART 4 OF 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Result 4: Agrochemical Application vs. Pest/Disease Vulnerability</a:t>
            </a:r>
          </a:p>
        </p:txBody>
      </p:sp>
      <p:pic>
        <p:nvPicPr>
          <p:cNvPr id="6" name="Picture 5" descr="04_pesticide_fertilizer_pest_r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6217920" cy="47548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0" y="1325880"/>
            <a:ext cx="4327855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E60000"/>
                </a:solidFill>
              </a:defRPr>
            </a:pPr>
            <a:r>
              <a:t>📊 Key Analytical Insights</a:t>
            </a:r>
          </a:p>
          <a:p>
            <a:pPr>
              <a:spcBef>
                <a:spcPts val="1200"/>
              </a:spcBef>
              <a:defRPr sz="1200" b="1">
                <a:solidFill>
                  <a:srgbClr val="1C1C1C"/>
                </a:solidFill>
              </a:defRPr>
            </a:pPr>
            <a:r>
              <a:t>1. Environmental Climatological Driver</a:t>
            </a:r>
          </a:p>
          <a:p>
            <a:pPr>
              <a:spcBef>
                <a:spcPts val="200"/>
              </a:spcBef>
              <a:defRPr sz="1050">
                <a:solidFill>
                  <a:srgbClr val="3C4043"/>
                </a:solidFill>
              </a:defRPr>
            </a:pPr>
            <a:r>
              <a:t>Pest vulnerability surges to 54.47% in Kharif vs. 40.48% in Rabi and 38.22% in Zaid, driven by monsoon atmospheric humidity &gt; 75%.</a:t>
            </a:r>
          </a:p>
          <a:p>
            <a:pPr>
              <a:spcBef>
                <a:spcPts val="1200"/>
              </a:spcBef>
              <a:defRPr sz="1200" b="1">
                <a:solidFill>
                  <a:srgbClr val="1C1C1C"/>
                </a:solidFill>
              </a:defRPr>
            </a:pPr>
            <a:r>
              <a:t>2. Weak Chemical Dosage Correlation</a:t>
            </a:r>
          </a:p>
          <a:p>
            <a:pPr>
              <a:spcBef>
                <a:spcPts val="200"/>
              </a:spcBef>
              <a:defRPr sz="1050">
                <a:solidFill>
                  <a:srgbClr val="3C4043"/>
                </a:solidFill>
              </a:defRPr>
            </a:pPr>
            <a:r>
              <a:t>Pesticide dosage (r = 0.015, p = 0.35) and fertilizer dosage (r = 0.033, p = 0.038) demonstrate negligible linear correlation with pest risk reduction.</a:t>
            </a:r>
          </a:p>
          <a:p>
            <a:pPr>
              <a:spcBef>
                <a:spcPts val="1200"/>
              </a:spcBef>
              <a:defRPr sz="1200" b="1">
                <a:solidFill>
                  <a:srgbClr val="1C1C1C"/>
                </a:solidFill>
              </a:defRPr>
            </a:pPr>
            <a:r>
              <a:t>3. Integrated Pest Management (IPM) Need</a:t>
            </a:r>
          </a:p>
          <a:p>
            <a:pPr>
              <a:spcBef>
                <a:spcPts val="200"/>
              </a:spcBef>
              <a:defRPr sz="1050">
                <a:solidFill>
                  <a:srgbClr val="3C4043"/>
                </a:solidFill>
              </a:defRPr>
            </a:pPr>
            <a:r>
              <a:t>Uncalibrated chemical over-application fails to mitigate risk; preventive telemetry and biological pest controls are essential.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80868B"/>
                </a:solidFill>
                <a:latin typeface="Arial"/>
              </a:defRPr>
            </a:pPr>
            <a:r>
              <a:t>VOIS AICTE Internship (Batch 1 2026-2027) | Seasonal Agriculture Performance Analysis | Slide 9 of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60000"/>
                </a:solidFill>
                <a:latin typeface="Arial"/>
              </a:defRPr>
            </a:pPr>
            <a:r>
              <a:t>RESULT &amp; EMPIRICAL FINDINGS (CHART 5 OF 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Result 5: Seasonal Crop Performance Matrix (Profit &amp; Productivity)</a:t>
            </a:r>
          </a:p>
        </p:txBody>
      </p:sp>
      <p:pic>
        <p:nvPicPr>
          <p:cNvPr id="6" name="Picture 5" descr="05_crop_performance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6217920" cy="47548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0" y="1325880"/>
            <a:ext cx="4327855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E60000"/>
                </a:solidFill>
              </a:defRPr>
            </a:pPr>
            <a:r>
              <a:t>📊 Key Analytical Insights</a:t>
            </a:r>
          </a:p>
          <a:p>
            <a:pPr>
              <a:spcBef>
                <a:spcPts val="1200"/>
              </a:spcBef>
              <a:defRPr sz="1200" b="1">
                <a:solidFill>
                  <a:srgbClr val="1C1C1C"/>
                </a:solidFill>
              </a:defRPr>
            </a:pPr>
            <a:r>
              <a:t>1. High-Margin Cash Crops</a:t>
            </a:r>
          </a:p>
          <a:p>
            <a:pPr>
              <a:spcBef>
                <a:spcPts val="200"/>
              </a:spcBef>
              <a:defRPr sz="1050">
                <a:solidFill>
                  <a:srgbClr val="3C4043"/>
                </a:solidFill>
              </a:defRPr>
            </a:pPr>
            <a:r>
              <a:t>Sugarcane and Chilli generate superior profitability (₹60,000 - ₹150,000/Ha) and tonnage (Sugarcane: 40 - 75 t/Ha) across Kharif and Rabi.</a:t>
            </a:r>
          </a:p>
          <a:p>
            <a:pPr>
              <a:spcBef>
                <a:spcPts val="1200"/>
              </a:spcBef>
              <a:defRPr sz="1200" b="1">
                <a:solidFill>
                  <a:srgbClr val="1C1C1C"/>
                </a:solidFill>
              </a:defRPr>
            </a:pPr>
            <a:r>
              <a:t>2. Food Security Staples</a:t>
            </a:r>
          </a:p>
          <a:p>
            <a:pPr>
              <a:spcBef>
                <a:spcPts val="200"/>
              </a:spcBef>
              <a:defRPr sz="1050">
                <a:solidFill>
                  <a:srgbClr val="3C4043"/>
                </a:solidFill>
              </a:defRPr>
            </a:pPr>
            <a:r>
              <a:t>Rice (2.5 - 4.5 t/Ha) and Wheat (2.0 - 4.0 t/Ha) deliver steady staple productivity with low volatility across Kharif and Rabi.</a:t>
            </a:r>
          </a:p>
          <a:p>
            <a:pPr>
              <a:spcBef>
                <a:spcPts val="1200"/>
              </a:spcBef>
              <a:defRPr sz="1200" b="1">
                <a:solidFill>
                  <a:srgbClr val="1C1C1C"/>
                </a:solidFill>
              </a:defRPr>
            </a:pPr>
            <a:r>
              <a:t>3. Zaid Crop Selection Guidelines</a:t>
            </a:r>
          </a:p>
          <a:p>
            <a:pPr>
              <a:spcBef>
                <a:spcPts val="200"/>
              </a:spcBef>
              <a:defRPr sz="1050">
                <a:solidFill>
                  <a:srgbClr val="3C4043"/>
                </a:solidFill>
              </a:defRPr>
            </a:pPr>
            <a:r>
              <a:t>Summer farming should prioritize drought-tolerant pulses and short-duration oilseeds (Groundnut) supported by drip systems.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80868B"/>
                </a:solidFill>
                <a:latin typeface="Arial"/>
              </a:defRPr>
            </a:pPr>
            <a:r>
              <a:t>VOIS AICTE Internship (Batch 1 2026-2027) | Seasonal Agriculture Performance Analysis | Slide 10 of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60000"/>
                </a:solidFill>
                <a:latin typeface="Arial"/>
              </a:defRPr>
            </a:pPr>
            <a:r>
              <a:t>VOIS AICTE INTERNSHIP - MAJOR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Future Scope &amp; Agritech Innovation Roadmap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728655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E60000"/>
                </a:solidFill>
              </a:defRPr>
            </a:pPr>
            <a:r>
              <a:t>🤖 Machine Learning Yield Prediction</a:t>
            </a:r>
          </a:p>
          <a:p>
            <a:pPr>
              <a:spcBef>
                <a:spcPts val="300"/>
              </a:spcBef>
              <a:defRPr sz="1100">
                <a:solidFill>
                  <a:srgbClr val="1C1C1C"/>
                </a:solidFill>
              </a:defRPr>
            </a:pPr>
            <a:r>
              <a:t>Deploy XGBoost, LightGBM, and Random Forest ensemble regressors to predict micro-climate farm yields with R² &gt; 0.90.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06040"/>
            <a:ext cx="10728655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C1C1C"/>
                </a:solidFill>
              </a:defRPr>
            </a:pPr>
            <a:r>
              <a:t>📡 Real-Time IoT Soil Sensor Integration</a:t>
            </a:r>
          </a:p>
          <a:p>
            <a:pPr>
              <a:spcBef>
                <a:spcPts val="300"/>
              </a:spcBef>
              <a:defRPr sz="1100">
                <a:solidFill>
                  <a:srgbClr val="1C1C1C"/>
                </a:solidFill>
              </a:defRPr>
            </a:pPr>
            <a:r>
              <a:t>Ingest telemetry from ground-level N-P-K, pH, and capacitive soil moisture probes for automated variable-rate drip fertigation.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10728655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8B8B"/>
                </a:solidFill>
              </a:defRPr>
            </a:pPr>
            <a:r>
              <a:t>🌦️ Micro-Climate Crop Advisory Systems</a:t>
            </a:r>
          </a:p>
          <a:p>
            <a:pPr>
              <a:spcBef>
                <a:spcPts val="300"/>
              </a:spcBef>
              <a:defRPr sz="1100">
                <a:solidFill>
                  <a:srgbClr val="1C1C1C"/>
                </a:solidFill>
              </a:defRPr>
            </a:pPr>
            <a:r>
              <a:t>AI-driven hyper-local mobile advisory delivering real-time pest alerts and market price intelligence directly to smallholders.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074920"/>
            <a:ext cx="10728655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E69500"/>
                </a:solidFill>
              </a:defRPr>
            </a:pPr>
            <a:r>
              <a:t>🛰️ Satellite Remote Sensing (NDVI/EVI)</a:t>
            </a:r>
          </a:p>
          <a:p>
            <a:pPr>
              <a:spcBef>
                <a:spcPts val="300"/>
              </a:spcBef>
              <a:defRPr sz="1100">
                <a:solidFill>
                  <a:srgbClr val="1C1C1C"/>
                </a:solidFill>
              </a:defRPr>
            </a:pPr>
            <a:r>
              <a:t>Incorporate Sentinel-2 and Landsat optical/SAR imagery to monitor crop canopy health and stress index in real-time.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80868B"/>
                </a:solidFill>
                <a:latin typeface="Arial"/>
              </a:defRPr>
            </a:pPr>
            <a:r>
              <a:t>VOIS AICTE Internship (Batch 1 2026-2027) | Seasonal Agriculture Performance Analysis | Slide 11 of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60000"/>
                </a:solidFill>
                <a:latin typeface="Arial"/>
              </a:defRPr>
            </a:pPr>
            <a:r>
              <a:t>VOIS AICTE INTERNSHIP - MAJOR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Project Repository &amp; Google Colab Interactive Links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57800" cy="2011680"/>
          </a:xfrm>
          <a:prstGeom prst="roundRect">
            <a:avLst/>
          </a:prstGeom>
          <a:solidFill>
            <a:srgbClr val="1C1C1C"/>
          </a:solidFill>
          <a:ln w="15240">
            <a:solidFill>
              <a:srgbClr val="E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60000"/>
                </a:solidFill>
              </a:defRPr>
            </a:pPr>
            <a:r>
              <a:t>🐙 OFFICIAL GITHUB REPOSITORY</a:t>
            </a:r>
          </a:p>
          <a:p>
            <a:pPr>
              <a:spcBef>
                <a:spcPts val="400"/>
              </a:spcBef>
              <a:defRPr sz="1200" b="1">
                <a:solidFill>
                  <a:srgbClr val="FFFFFF"/>
                </a:solidFill>
              </a:defRPr>
            </a:pPr>
            <a:r>
              <a:t>https://github.com/princex100/VOIS-Seasonal-Agriculture-Performance-Analysis</a:t>
            </a:r>
          </a:p>
          <a:p>
            <a:pPr>
              <a:spcBef>
                <a:spcPts val="400"/>
              </a:spcBef>
              <a:defRPr sz="1000">
                <a:solidFill>
                  <a:srgbClr val="C8CDD2"/>
                </a:solidFill>
              </a:defRPr>
            </a:pPr>
            <a:r>
              <a:t>• Complete production codebase, datasets, and presentation deck.</a:t>
            </a:r>
            <a:br/>
            <a:r>
              <a:t>• Full Git commit history &amp; structured directory hierarchy.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280160"/>
            <a:ext cx="5257800" cy="2011680"/>
          </a:xfrm>
          <a:prstGeom prst="roundRect">
            <a:avLst/>
          </a:prstGeom>
          <a:solidFill>
            <a:srgbClr val="1C1C1C"/>
          </a:solidFill>
          <a:ln w="15240">
            <a:solidFill>
              <a:srgbClr val="E6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69500"/>
                </a:solidFill>
              </a:defRPr>
            </a:pPr>
            <a:r>
              <a:t>⚡ GOOGLE COLAB INTERACTIVE NOTEBOOK</a:t>
            </a:r>
          </a:p>
          <a:p>
            <a:pPr>
              <a:spcBef>
                <a:spcPts val="400"/>
              </a:spcBef>
              <a:defRPr sz="1050" b="1">
                <a:solidFill>
                  <a:srgbClr val="FFFFFF"/>
                </a:solidFill>
              </a:defRPr>
            </a:pPr>
            <a:r>
              <a:t>https://colab.research.google.com/github/princex100/VOIS-Seasonal-Agriculture-Performance-Analysis/blob/main/notebooks/Seasonal_Agriculture_Performance_Analysis.ipynb</a:t>
            </a:r>
          </a:p>
          <a:p>
            <a:pPr>
              <a:spcBef>
                <a:spcPts val="400"/>
              </a:spcBef>
              <a:defRPr sz="1000">
                <a:solidFill>
                  <a:srgbClr val="C8CDD2"/>
                </a:solidFill>
              </a:defRPr>
            </a:pPr>
            <a:r>
              <a:t>• 1-Click Cloud Execution: Run end-to-end EDA and statistical ANOVA directly in your browser.</a:t>
            </a:r>
            <a:br/>
            <a:r>
              <a:t>• Zero setup required: Auto-fetches dataset and renders interactive charts.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474720"/>
            <a:ext cx="10728655" cy="2743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C1C1C"/>
                </a:solidFill>
              </a:defRPr>
            </a:pPr>
            <a:r>
              <a:t>📁 Structured Deliverables &amp; Reproduction Directory Index</a:t>
            </a:r>
          </a:p>
          <a:p>
            <a:pPr>
              <a:spcBef>
                <a:spcPts val="200"/>
              </a:spcBef>
              <a:defRPr sz="1050">
                <a:solidFill>
                  <a:srgbClr val="3C4043"/>
                </a:solidFill>
              </a:defRPr>
            </a:pPr>
            <a:r>
              <a:t>•  data/           : Contains raw CSV (4,000 records) and cleaned dataset with stratified median imputation.</a:t>
            </a:r>
          </a:p>
          <a:p>
            <a:pPr>
              <a:spcBef>
                <a:spcPts val="200"/>
              </a:spcBef>
              <a:defRPr sz="1050">
                <a:solidFill>
                  <a:srgbClr val="3C4043"/>
                </a:solidFill>
              </a:defRPr>
            </a:pPr>
            <a:r>
              <a:t>•  notebooks/      : Seasonal_Agriculture_Performance_Analysis.ipynb - Google Colab compatible research notebook.</a:t>
            </a:r>
          </a:p>
          <a:p>
            <a:pPr>
              <a:spcBef>
                <a:spcPts val="200"/>
              </a:spcBef>
              <a:defRPr sz="1050">
                <a:solidFill>
                  <a:srgbClr val="3C4043"/>
                </a:solidFill>
              </a:defRPr>
            </a:pPr>
            <a:r>
              <a:t>•  src/            : analyze_and_visualize.py (Data &amp; EDA pipeline), update_presentation.py (Deck builder).</a:t>
            </a:r>
          </a:p>
          <a:p>
            <a:pPr>
              <a:spcBef>
                <a:spcPts val="200"/>
              </a:spcBef>
              <a:defRPr sz="1050">
                <a:solidFill>
                  <a:srgbClr val="3C4043"/>
                </a:solidFill>
              </a:defRPr>
            </a:pPr>
            <a:r>
              <a:t>•  results/        : 5 High-resolution publication charts (.png) and statistical_summary.json metrics.</a:t>
            </a:r>
          </a:p>
          <a:p>
            <a:pPr>
              <a:spcBef>
                <a:spcPts val="200"/>
              </a:spcBef>
              <a:defRPr sz="1050">
                <a:solidFill>
                  <a:srgbClr val="3C4043"/>
                </a:solidFill>
              </a:defRPr>
            </a:pPr>
            <a:r>
              <a:t>•  docs/           : VOIS_Major_Project_Final_Submission.pptx - 14-slide executive submission presentation.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80868B"/>
                </a:solidFill>
                <a:latin typeface="Arial"/>
              </a:defRPr>
            </a:pPr>
            <a:r>
              <a:t>VOIS AICTE Internship (Batch 1 2026-2027) | Seasonal Agriculture Performance Analysis | Slide 12 of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60000"/>
                </a:solidFill>
                <a:latin typeface="Arial"/>
              </a:defRPr>
            </a:pPr>
            <a:r>
              <a:t>VOIS AICTE INTERNSHIP - MAJOR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VOIS Data Visualization Course Completion Certificate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1371600"/>
            <a:ext cx="8899855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E60000"/>
                </a:solidFill>
              </a:defRPr>
            </a:pPr>
            <a:r>
              <a:t>[Insert VOIS Data Visualization Certificate Here]</a:t>
            </a:r>
          </a:p>
          <a:p>
            <a:pPr algn="ctr">
              <a:spcBef>
                <a:spcPts val="1000"/>
              </a:spcBef>
              <a:defRPr sz="1200">
                <a:solidFill>
                  <a:srgbClr val="3C4043"/>
                </a:solidFill>
              </a:defRPr>
            </a:pPr>
            <a:r>
              <a:t>Paste your official Vodafone Intelligent Solutions (_VOIS) Data Visualization course certificate image here prior to final submission.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80868B"/>
                </a:solidFill>
                <a:latin typeface="Arial"/>
              </a:defRPr>
            </a:pPr>
            <a:r>
              <a:t>VOIS AICTE Internship (Batch 1 2026-2027) | Seasonal Agriculture Performance Analysis | Slide 13 of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44849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Thank You!</a:t>
            </a:r>
          </a:p>
          <a:p>
            <a:pPr algn="ctr">
              <a:spcBef>
                <a:spcPts val="1000"/>
              </a:spcBef>
              <a:defRPr sz="1400" b="1">
                <a:solidFill>
                  <a:srgbClr val="E60000"/>
                </a:solidFill>
              </a:defRPr>
            </a:pPr>
            <a:r>
              <a:t>VOIS AICTE INTERNSHIP (BATCH 1 2026-2027) - MAJOR PROJECT</a:t>
            </a:r>
          </a:p>
          <a:p>
            <a:pPr algn="ctr">
              <a:spcBef>
                <a:spcPts val="600"/>
              </a:spcBef>
              <a:defRPr sz="2000" b="1">
                <a:solidFill>
                  <a:srgbClr val="DCE1E6"/>
                </a:solidFill>
              </a:defRPr>
            </a:pPr>
            <a:r>
              <a:t>Seasonal Agriculture Performance Analysis</a:t>
            </a:r>
          </a:p>
          <a:p>
            <a:pPr algn="ctr">
              <a:spcBef>
                <a:spcPts val="2500"/>
              </a:spcBef>
              <a:defRPr sz="1300">
                <a:solidFill>
                  <a:srgbClr val="B4B9BE"/>
                </a:solidFill>
              </a:defRPr>
            </a:pPr>
            <a:r>
              <a:t>Contact &amp; Student Information:</a:t>
            </a:r>
            <a:br/>
            <a:r>
              <a:t>Student: [Student Name]  |  Email: [Your Email]  |  LinkedIn: [Your LinkedIn Profile]</a:t>
            </a:r>
            <a:br/>
            <a:r>
              <a:t>AICTE Student ID: [AICTE STU ID]  |  College: [College Name]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80868B"/>
                </a:solidFill>
                <a:latin typeface="Arial"/>
              </a:defRPr>
            </a:pPr>
            <a:r>
              <a:t>VOIS AICTE Internship (Batch 1 2026-2027) | Seasonal Agriculture Performance Analysis | Slide 14 of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